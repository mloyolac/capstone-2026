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oston Angel" charset="1" panose="00000000000000000000"/>
      <p:regular r:id="rId12"/>
    </p:embeddedFont>
    <p:embeddedFont>
      <p:font typeface="DM Sans Bold" charset="1" panose="00000000000000000000"/>
      <p:regular r:id="rId13"/>
    </p:embeddedFont>
    <p:embeddedFont>
      <p:font typeface="DM Sans" charset="1" panose="00000000000000000000"/>
      <p:regular r:id="rId14"/>
    </p:embeddedFont>
    <p:embeddedFont>
      <p:font typeface="Public Sans Bold" charset="1" panose="00000000000000000000"/>
      <p:regular r:id="rId15"/>
    </p:embeddedFont>
    <p:embeddedFont>
      <p:font typeface="Public Sans Thin" charset="1" panose="00000000000000000000"/>
      <p:regular r:id="rId16"/>
    </p:embeddedFont>
    <p:embeddedFont>
      <p:font typeface="Inter Bold" charset="1" panose="020B0802030000000004"/>
      <p:regular r:id="rId17"/>
    </p:embeddedFont>
    <p:embeddedFont>
      <p:font typeface="Roboto Condensed" charset="1" panose="02000000000000000000"/>
      <p:regular r:id="rId18"/>
    </p:embeddedFont>
    <p:embeddedFont>
      <p:font typeface="Boston Angel Bold" charset="1" panose="00000000000000000000"/>
      <p:regular r:id="rId19"/>
    </p:embeddedFont>
    <p:embeddedFont>
      <p:font typeface="Inter Semi-Bold" charset="1" panose="02000503000000020004"/>
      <p:regular r:id="rId20"/>
    </p:embeddedFont>
    <p:embeddedFont>
      <p:font typeface="Roboto" charset="1" panose="02000000000000000000"/>
      <p:regular r:id="rId21"/>
    </p:embeddedFont>
    <p:embeddedFont>
      <p:font typeface="Roboto Bold" charset="1" panose="02000000000000000000"/>
      <p:regular r:id="rId22"/>
    </p:embeddedFont>
    <p:embeddedFont>
      <p:font typeface="Open Sans Bold" charset="1" panose="020B0806030504020204"/>
      <p:regular r:id="rId23"/>
    </p:embeddedFont>
    <p:embeddedFont>
      <p:font typeface="Open Sans" charset="1" panose="020B06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svg" Type="http://schemas.openxmlformats.org/officeDocument/2006/relationships/image"/><Relationship Id="rId17" Target="../media/image22.png" Type="http://schemas.openxmlformats.org/officeDocument/2006/relationships/image"/><Relationship Id="rId18" Target="../media/image23.png" Type="http://schemas.openxmlformats.org/officeDocument/2006/relationships/image"/><Relationship Id="rId19" Target="../media/image24.sv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18" Target="../media/image41.png" Type="http://schemas.openxmlformats.org/officeDocument/2006/relationships/image"/><Relationship Id="rId19" Target="../media/image42.png" Type="http://schemas.openxmlformats.org/officeDocument/2006/relationships/image"/><Relationship Id="rId2" Target="../media/image25.png" Type="http://schemas.openxmlformats.org/officeDocument/2006/relationships/image"/><Relationship Id="rId20" Target="../media/image43.png" Type="http://schemas.openxmlformats.org/officeDocument/2006/relationships/image"/><Relationship Id="rId21" Target="../media/image44.png" Type="http://schemas.openxmlformats.org/officeDocument/2006/relationships/image"/><Relationship Id="rId22" Target="../media/image45.png" Type="http://schemas.openxmlformats.org/officeDocument/2006/relationships/image"/><Relationship Id="rId23" Target="../media/image46.png" Type="http://schemas.openxmlformats.org/officeDocument/2006/relationships/image"/><Relationship Id="rId24" Target="../media/image47.png" Type="http://schemas.openxmlformats.org/officeDocument/2006/relationships/image"/><Relationship Id="rId25" Target="../media/image48.png" Type="http://schemas.openxmlformats.org/officeDocument/2006/relationships/image"/><Relationship Id="rId26" Target="../media/image49.svg" Type="http://schemas.openxmlformats.org/officeDocument/2006/relationships/image"/><Relationship Id="rId27" Target="../media/image50.png" Type="http://schemas.openxmlformats.org/officeDocument/2006/relationships/image"/><Relationship Id="rId28" Target="../media/image51.svg" Type="http://schemas.openxmlformats.org/officeDocument/2006/relationships/image"/><Relationship Id="rId29" Target="../media/image52.png" Type="http://schemas.openxmlformats.org/officeDocument/2006/relationships/image"/><Relationship Id="rId3" Target="../media/image26.png" Type="http://schemas.openxmlformats.org/officeDocument/2006/relationships/image"/><Relationship Id="rId30" Target="../media/image53.png" Type="http://schemas.openxmlformats.org/officeDocument/2006/relationships/image"/><Relationship Id="rId31" Target="../media/image54.png" Type="http://schemas.openxmlformats.org/officeDocument/2006/relationships/image"/><Relationship Id="rId32" Target="../media/image55.png" Type="http://schemas.openxmlformats.org/officeDocument/2006/relationships/image"/><Relationship Id="rId33" Target="../media/image56.svg" Type="http://schemas.openxmlformats.org/officeDocument/2006/relationships/image"/><Relationship Id="rId34" Target="../media/image57.png" Type="http://schemas.openxmlformats.org/officeDocument/2006/relationships/image"/><Relationship Id="rId35" Target="../media/image7.png" Type="http://schemas.openxmlformats.org/officeDocument/2006/relationships/image"/><Relationship Id="rId36" Target="../media/image8.png" Type="http://schemas.openxmlformats.org/officeDocument/2006/relationships/image"/><Relationship Id="rId37" Target="../media/image9.png" Type="http://schemas.openxmlformats.org/officeDocument/2006/relationships/image"/><Relationship Id="rId38" Target="../media/image12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png" Type="http://schemas.openxmlformats.org/officeDocument/2006/relationships/image"/><Relationship Id="rId16" Target="../media/image72.png" Type="http://schemas.openxmlformats.org/officeDocument/2006/relationships/image"/><Relationship Id="rId17" Target="../media/image73.png" Type="http://schemas.openxmlformats.org/officeDocument/2006/relationships/image"/><Relationship Id="rId18" Target="../media/image74.png" Type="http://schemas.openxmlformats.org/officeDocument/2006/relationships/image"/><Relationship Id="rId19" Target="../media/image75.png" Type="http://schemas.openxmlformats.org/officeDocument/2006/relationships/image"/><Relationship Id="rId2" Target="../media/image58.png" Type="http://schemas.openxmlformats.org/officeDocument/2006/relationships/image"/><Relationship Id="rId20" Target="../media/image76.png" Type="http://schemas.openxmlformats.org/officeDocument/2006/relationships/image"/><Relationship Id="rId21" Target="../media/image77.png" Type="http://schemas.openxmlformats.org/officeDocument/2006/relationships/image"/><Relationship Id="rId22" Target="../media/image78.png" Type="http://schemas.openxmlformats.org/officeDocument/2006/relationships/image"/><Relationship Id="rId23" Target="../media/image79.png" Type="http://schemas.openxmlformats.org/officeDocument/2006/relationships/image"/><Relationship Id="rId24" Target="../media/image80.png" Type="http://schemas.openxmlformats.org/officeDocument/2006/relationships/image"/><Relationship Id="rId25" Target="../media/image81.png" Type="http://schemas.openxmlformats.org/officeDocument/2006/relationships/image"/><Relationship Id="rId26" Target="../media/image82.png" Type="http://schemas.openxmlformats.org/officeDocument/2006/relationships/image"/><Relationship Id="rId27" Target="../media/image83.png" Type="http://schemas.openxmlformats.org/officeDocument/2006/relationships/image"/><Relationship Id="rId28" Target="../media/image84.png" Type="http://schemas.openxmlformats.org/officeDocument/2006/relationships/image"/><Relationship Id="rId29" Target="../media/image85.png" Type="http://schemas.openxmlformats.org/officeDocument/2006/relationships/image"/><Relationship Id="rId3" Target="../media/image59.png" Type="http://schemas.openxmlformats.org/officeDocument/2006/relationships/image"/><Relationship Id="rId30" Target="../media/image86.png" Type="http://schemas.openxmlformats.org/officeDocument/2006/relationships/image"/><Relationship Id="rId31" Target="../media/image87.png" Type="http://schemas.openxmlformats.org/officeDocument/2006/relationships/image"/><Relationship Id="rId32" Target="../media/image88.png" Type="http://schemas.openxmlformats.org/officeDocument/2006/relationships/image"/><Relationship Id="rId33" Target="../media/image89.png" Type="http://schemas.openxmlformats.org/officeDocument/2006/relationships/image"/><Relationship Id="rId34" Target="../media/image90.png" Type="http://schemas.openxmlformats.org/officeDocument/2006/relationships/image"/><Relationship Id="rId35" Target="../media/image7.png" Type="http://schemas.openxmlformats.org/officeDocument/2006/relationships/image"/><Relationship Id="rId36" Target="../media/image8.png" Type="http://schemas.openxmlformats.org/officeDocument/2006/relationships/image"/><Relationship Id="rId37" Target="../media/image9.png" Type="http://schemas.openxmlformats.org/officeDocument/2006/relationships/image"/><Relationship Id="rId38" Target="../media/image91.png" Type="http://schemas.openxmlformats.org/officeDocument/2006/relationships/image"/><Relationship Id="rId39" Target="../media/image92.png" Type="http://schemas.openxmlformats.org/officeDocument/2006/relationships/image"/><Relationship Id="rId4" Target="../media/image60.png" Type="http://schemas.openxmlformats.org/officeDocument/2006/relationships/image"/><Relationship Id="rId40" Target="../media/image15.png" Type="http://schemas.openxmlformats.org/officeDocument/2006/relationships/image"/><Relationship Id="rId41" Target="../media/image12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102.png" Type="http://schemas.openxmlformats.org/officeDocument/2006/relationships/image"/><Relationship Id="rId12" Target="../media/image103.png" Type="http://schemas.openxmlformats.org/officeDocument/2006/relationships/image"/><Relationship Id="rId13" Target="../media/image104.png" Type="http://schemas.openxmlformats.org/officeDocument/2006/relationships/image"/><Relationship Id="rId14" Target="../media/image105.png" Type="http://schemas.openxmlformats.org/officeDocument/2006/relationships/image"/><Relationship Id="rId15" Target="../media/image106.png" Type="http://schemas.openxmlformats.org/officeDocument/2006/relationships/image"/><Relationship Id="rId16" Target="../media/image107.png" Type="http://schemas.openxmlformats.org/officeDocument/2006/relationships/image"/><Relationship Id="rId17" Target="../media/image108.png" Type="http://schemas.openxmlformats.org/officeDocument/2006/relationships/image"/><Relationship Id="rId18" Target="../media/image109.png" Type="http://schemas.openxmlformats.org/officeDocument/2006/relationships/image"/><Relationship Id="rId19" Target="../media/image110.png" Type="http://schemas.openxmlformats.org/officeDocument/2006/relationships/image"/><Relationship Id="rId2" Target="../media/image93.png" Type="http://schemas.openxmlformats.org/officeDocument/2006/relationships/image"/><Relationship Id="rId20" Target="../media/image111.png" Type="http://schemas.openxmlformats.org/officeDocument/2006/relationships/image"/><Relationship Id="rId21" Target="../media/image112.png" Type="http://schemas.openxmlformats.org/officeDocument/2006/relationships/image"/><Relationship Id="rId22" Target="../media/image113.png" Type="http://schemas.openxmlformats.org/officeDocument/2006/relationships/image"/><Relationship Id="rId23" Target="../media/image114.png" Type="http://schemas.openxmlformats.org/officeDocument/2006/relationships/image"/><Relationship Id="rId24" Target="../media/image115.png" Type="http://schemas.openxmlformats.org/officeDocument/2006/relationships/image"/><Relationship Id="rId25" Target="../media/image116.png" Type="http://schemas.openxmlformats.org/officeDocument/2006/relationships/image"/><Relationship Id="rId26" Target="../media/image7.png" Type="http://schemas.openxmlformats.org/officeDocument/2006/relationships/image"/><Relationship Id="rId27" Target="../media/image8.png" Type="http://schemas.openxmlformats.org/officeDocument/2006/relationships/image"/><Relationship Id="rId28" Target="../media/image9.png" Type="http://schemas.openxmlformats.org/officeDocument/2006/relationships/image"/><Relationship Id="rId29" Target="../media/image15.png" Type="http://schemas.openxmlformats.org/officeDocument/2006/relationships/image"/><Relationship Id="rId3" Target="../media/image94.png" Type="http://schemas.openxmlformats.org/officeDocument/2006/relationships/image"/><Relationship Id="rId30" Target="../media/image117.png" Type="http://schemas.openxmlformats.org/officeDocument/2006/relationships/image"/><Relationship Id="rId31" Target="../media/image118.svg" Type="http://schemas.openxmlformats.org/officeDocument/2006/relationships/image"/><Relationship Id="rId32" Target="../media/image119.png" Type="http://schemas.openxmlformats.org/officeDocument/2006/relationships/image"/><Relationship Id="rId33" Target="../media/image120.svg" Type="http://schemas.openxmlformats.org/officeDocument/2006/relationships/image"/><Relationship Id="rId34" Target="../media/image121.png" Type="http://schemas.openxmlformats.org/officeDocument/2006/relationships/image"/><Relationship Id="rId35" Target="../media/image122.svg" Type="http://schemas.openxmlformats.org/officeDocument/2006/relationships/image"/><Relationship Id="rId36" Target="../media/image12.png" Type="http://schemas.openxmlformats.org/officeDocument/2006/relationships/image"/><Relationship Id="rId4" Target="../media/image95.png" Type="http://schemas.openxmlformats.org/officeDocument/2006/relationships/image"/><Relationship Id="rId5" Target="../media/image96.png" Type="http://schemas.openxmlformats.org/officeDocument/2006/relationships/image"/><Relationship Id="rId6" Target="../media/image97.png" Type="http://schemas.openxmlformats.org/officeDocument/2006/relationships/image"/><Relationship Id="rId7" Target="../media/image98.png" Type="http://schemas.openxmlformats.org/officeDocument/2006/relationships/image"/><Relationship Id="rId8" Target="../media/image99.pn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1.png" Type="http://schemas.openxmlformats.org/officeDocument/2006/relationships/image"/><Relationship Id="rId11" Target="../media/image132.png" Type="http://schemas.openxmlformats.org/officeDocument/2006/relationships/image"/><Relationship Id="rId12" Target="../media/image133.png" Type="http://schemas.openxmlformats.org/officeDocument/2006/relationships/image"/><Relationship Id="rId13" Target="../media/image134.png" Type="http://schemas.openxmlformats.org/officeDocument/2006/relationships/image"/><Relationship Id="rId14" Target="../media/image135.png" Type="http://schemas.openxmlformats.org/officeDocument/2006/relationships/image"/><Relationship Id="rId15" Target="../media/image136.png" Type="http://schemas.openxmlformats.org/officeDocument/2006/relationships/image"/><Relationship Id="rId16" Target="../media/image137.png" Type="http://schemas.openxmlformats.org/officeDocument/2006/relationships/image"/><Relationship Id="rId17" Target="../media/image138.png" Type="http://schemas.openxmlformats.org/officeDocument/2006/relationships/image"/><Relationship Id="rId18" Target="../media/image139.png" Type="http://schemas.openxmlformats.org/officeDocument/2006/relationships/image"/><Relationship Id="rId19" Target="../media/image140.png" Type="http://schemas.openxmlformats.org/officeDocument/2006/relationships/image"/><Relationship Id="rId2" Target="../media/image123.png" Type="http://schemas.openxmlformats.org/officeDocument/2006/relationships/image"/><Relationship Id="rId20" Target="../media/image141.png" Type="http://schemas.openxmlformats.org/officeDocument/2006/relationships/image"/><Relationship Id="rId21" Target="../media/image142.png" Type="http://schemas.openxmlformats.org/officeDocument/2006/relationships/image"/><Relationship Id="rId22" Target="../media/image143.png" Type="http://schemas.openxmlformats.org/officeDocument/2006/relationships/image"/><Relationship Id="rId23" Target="../media/image144.png" Type="http://schemas.openxmlformats.org/officeDocument/2006/relationships/image"/><Relationship Id="rId24" Target="../media/image145.svg" Type="http://schemas.openxmlformats.org/officeDocument/2006/relationships/image"/><Relationship Id="rId25" Target="../media/image146.png" Type="http://schemas.openxmlformats.org/officeDocument/2006/relationships/image"/><Relationship Id="rId26" Target="../media/image147.svg" Type="http://schemas.openxmlformats.org/officeDocument/2006/relationships/image"/><Relationship Id="rId27" Target="../media/image148.png" Type="http://schemas.openxmlformats.org/officeDocument/2006/relationships/image"/><Relationship Id="rId28" Target="../media/image149.svg" Type="http://schemas.openxmlformats.org/officeDocument/2006/relationships/image"/><Relationship Id="rId29" Target="../media/image7.png" Type="http://schemas.openxmlformats.org/officeDocument/2006/relationships/image"/><Relationship Id="rId3" Target="../media/image124.png" Type="http://schemas.openxmlformats.org/officeDocument/2006/relationships/image"/><Relationship Id="rId30" Target="../media/image8.png" Type="http://schemas.openxmlformats.org/officeDocument/2006/relationships/image"/><Relationship Id="rId31" Target="../media/image9.png" Type="http://schemas.openxmlformats.org/officeDocument/2006/relationships/image"/><Relationship Id="rId32" Target="../media/image15.png" Type="http://schemas.openxmlformats.org/officeDocument/2006/relationships/image"/><Relationship Id="rId33" Target="../media/image12.png" Type="http://schemas.openxmlformats.org/officeDocument/2006/relationships/image"/><Relationship Id="rId4" Target="../media/image125.png" Type="http://schemas.openxmlformats.org/officeDocument/2006/relationships/image"/><Relationship Id="rId5" Target="../media/image126.png" Type="http://schemas.openxmlformats.org/officeDocument/2006/relationships/image"/><Relationship Id="rId6" Target="../media/image127.png" Type="http://schemas.openxmlformats.org/officeDocument/2006/relationships/image"/><Relationship Id="rId7" Target="../media/image128.png" Type="http://schemas.openxmlformats.org/officeDocument/2006/relationships/image"/><Relationship Id="rId8" Target="../media/image129.png" Type="http://schemas.openxmlformats.org/officeDocument/2006/relationships/image"/><Relationship Id="rId9" Target="../media/image1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9001125"/>
          </a:xfrm>
          <a:custGeom>
            <a:avLst/>
            <a:gdLst/>
            <a:ahLst/>
            <a:cxnLst/>
            <a:rect r="r" b="b" t="t" l="l"/>
            <a:pathLst>
              <a:path h="9001125" w="18288000">
                <a:moveTo>
                  <a:pt x="0" y="0"/>
                </a:moveTo>
                <a:lnTo>
                  <a:pt x="18288000" y="0"/>
                </a:lnTo>
                <a:lnTo>
                  <a:pt x="18288000" y="9001125"/>
                </a:lnTo>
                <a:lnTo>
                  <a:pt x="0" y="9001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01850" y="209550"/>
            <a:ext cx="3486150" cy="2152650"/>
          </a:xfrm>
          <a:custGeom>
            <a:avLst/>
            <a:gdLst/>
            <a:ahLst/>
            <a:cxnLst/>
            <a:rect r="r" b="b" t="t" l="l"/>
            <a:pathLst>
              <a:path h="2152650" w="3486150">
                <a:moveTo>
                  <a:pt x="0" y="0"/>
                </a:moveTo>
                <a:lnTo>
                  <a:pt x="3486150" y="0"/>
                </a:lnTo>
                <a:lnTo>
                  <a:pt x="34861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775" y="6429375"/>
            <a:ext cx="1533525" cy="219075"/>
          </a:xfrm>
          <a:custGeom>
            <a:avLst/>
            <a:gdLst/>
            <a:ahLst/>
            <a:cxnLst/>
            <a:rect r="r" b="b" t="t" l="l"/>
            <a:pathLst>
              <a:path h="219075" w="1533525">
                <a:moveTo>
                  <a:pt x="0" y="0"/>
                </a:moveTo>
                <a:lnTo>
                  <a:pt x="1533525" y="0"/>
                </a:lnTo>
                <a:lnTo>
                  <a:pt x="153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2462" y="905491"/>
            <a:ext cx="5136055" cy="541693"/>
          </a:xfrm>
          <a:custGeom>
            <a:avLst/>
            <a:gdLst/>
            <a:ahLst/>
            <a:cxnLst/>
            <a:rect r="r" b="b" t="t" l="l"/>
            <a:pathLst>
              <a:path h="541693" w="5136055">
                <a:moveTo>
                  <a:pt x="0" y="0"/>
                </a:moveTo>
                <a:lnTo>
                  <a:pt x="5136056" y="0"/>
                </a:lnTo>
                <a:lnTo>
                  <a:pt x="5136056" y="541693"/>
                </a:lnTo>
                <a:lnTo>
                  <a:pt x="0" y="541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01850" y="905491"/>
            <a:ext cx="2203498" cy="541693"/>
          </a:xfrm>
          <a:custGeom>
            <a:avLst/>
            <a:gdLst/>
            <a:ahLst/>
            <a:cxnLst/>
            <a:rect r="r" b="b" t="t" l="l"/>
            <a:pathLst>
              <a:path h="541693" w="2203498">
                <a:moveTo>
                  <a:pt x="0" y="0"/>
                </a:moveTo>
                <a:lnTo>
                  <a:pt x="2203498" y="0"/>
                </a:lnTo>
                <a:lnTo>
                  <a:pt x="2203498" y="541693"/>
                </a:lnTo>
                <a:lnTo>
                  <a:pt x="0" y="5416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9536" y="3938706"/>
            <a:ext cx="11686032" cy="1390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84"/>
              </a:lnSpc>
            </a:pPr>
            <a:r>
              <a:rPr lang="en-US" sz="10923" spc="-218">
                <a:solidFill>
                  <a:srgbClr val="B47A34"/>
                </a:solidFill>
                <a:latin typeface="Boston Angel"/>
                <a:ea typeface="Boston Angel"/>
                <a:cs typeface="Boston Angel"/>
                <a:sym typeface="Boston Angel"/>
              </a:rPr>
              <a:t>Sistema gestión OMM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9536" y="5800725"/>
            <a:ext cx="7936992" cy="46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0"/>
              </a:lnSpc>
            </a:pPr>
            <a:r>
              <a:rPr lang="en-US" sz="2958">
                <a:solidFill>
                  <a:srgbClr val="E1D7C9"/>
                </a:solidFill>
                <a:latin typeface="Boston Angel"/>
                <a:ea typeface="Boston Angel"/>
                <a:cs typeface="Boston Angel"/>
                <a:sym typeface="Boston Angel"/>
              </a:rPr>
              <a:t>Metodologías - TRL - Arquitectura de desarrollo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8782050"/>
            <a:ext cx="18288000" cy="1504950"/>
            <a:chOff x="0" y="0"/>
            <a:chExt cx="24384000" cy="2006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06600"/>
                  </a:lnTo>
                  <a:lnTo>
                    <a:pt x="0" y="200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71500" y="571500"/>
              <a:ext cx="596900" cy="863600"/>
            </a:xfrm>
            <a:custGeom>
              <a:avLst/>
              <a:gdLst/>
              <a:ahLst/>
              <a:cxnLst/>
              <a:rect r="r" b="b" t="t" l="l"/>
              <a:pathLst>
                <a:path h="8636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343400" y="571500"/>
              <a:ext cx="304800" cy="863600"/>
            </a:xfrm>
            <a:custGeom>
              <a:avLst/>
              <a:gdLst/>
              <a:ahLst/>
              <a:cxnLst/>
              <a:rect r="r" b="b" t="t" l="l"/>
              <a:pathLst>
                <a:path h="8636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389888" y="819404"/>
              <a:ext cx="2953512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6"/>
                </a:lnSpc>
              </a:pPr>
              <a:r>
                <a:rPr lang="en-US" sz="2489" b="true">
                  <a:solidFill>
                    <a:srgbClr val="5D62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MM Solutions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096256" y="832104"/>
              <a:ext cx="329184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4"/>
                </a:lnSpc>
              </a:pPr>
              <a:r>
                <a:rPr lang="en-US" sz="2336">
                  <a:solidFill>
                    <a:srgbClr val="A6A6A6"/>
                  </a:solidFill>
                  <a:latin typeface="DM Sans"/>
                  <a:ea typeface="DM Sans"/>
                  <a:cs typeface="DM Sans"/>
                  <a:sym typeface="DM Sans"/>
                </a:rPr>
                <a:t>Hotel El Almendro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6410" y="0"/>
            <a:ext cx="18686398" cy="10414080"/>
            <a:chOff x="0" y="0"/>
            <a:chExt cx="4921520" cy="27428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21521" cy="2742803"/>
            </a:xfrm>
            <a:custGeom>
              <a:avLst/>
              <a:gdLst/>
              <a:ahLst/>
              <a:cxnLst/>
              <a:rect r="r" b="b" t="t" l="l"/>
              <a:pathLst>
                <a:path h="2742803" w="4921521">
                  <a:moveTo>
                    <a:pt x="0" y="0"/>
                  </a:moveTo>
                  <a:lnTo>
                    <a:pt x="4921521" y="0"/>
                  </a:lnTo>
                  <a:lnTo>
                    <a:pt x="4921521" y="2742803"/>
                  </a:lnTo>
                  <a:lnTo>
                    <a:pt x="0" y="2742803"/>
                  </a:lnTo>
                  <a:close/>
                </a:path>
              </a:pathLst>
            </a:custGeom>
            <a:solidFill>
              <a:srgbClr val="FBF7F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921520" cy="2799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3638550"/>
            <a:ext cx="5448300" cy="5153025"/>
          </a:xfrm>
          <a:custGeom>
            <a:avLst/>
            <a:gdLst/>
            <a:ahLst/>
            <a:cxnLst/>
            <a:rect r="r" b="b" t="t" l="l"/>
            <a:pathLst>
              <a:path h="5153025" w="5448300">
                <a:moveTo>
                  <a:pt x="0" y="0"/>
                </a:moveTo>
                <a:lnTo>
                  <a:pt x="5448300" y="0"/>
                </a:lnTo>
                <a:lnTo>
                  <a:pt x="5448300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01850" y="0"/>
            <a:ext cx="3486150" cy="2143125"/>
          </a:xfrm>
          <a:custGeom>
            <a:avLst/>
            <a:gdLst/>
            <a:ahLst/>
            <a:cxnLst/>
            <a:rect r="r" b="b" t="t" l="l"/>
            <a:pathLst>
              <a:path h="2143125" w="3486150">
                <a:moveTo>
                  <a:pt x="0" y="0"/>
                </a:moveTo>
                <a:lnTo>
                  <a:pt x="3486150" y="0"/>
                </a:lnTo>
                <a:lnTo>
                  <a:pt x="3486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625" y="921067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57550" y="9210675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7225" y="642396"/>
            <a:ext cx="4096512" cy="429709"/>
          </a:xfrm>
          <a:custGeom>
            <a:avLst/>
            <a:gdLst/>
            <a:ahLst/>
            <a:cxnLst/>
            <a:rect r="r" b="b" t="t" l="l"/>
            <a:pathLst>
              <a:path h="429709" w="4096512">
                <a:moveTo>
                  <a:pt x="0" y="0"/>
                </a:moveTo>
                <a:lnTo>
                  <a:pt x="4096512" y="0"/>
                </a:lnTo>
                <a:lnTo>
                  <a:pt x="4096512" y="429708"/>
                </a:lnTo>
                <a:lnTo>
                  <a:pt x="0" y="4297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81600" r="0" b="-19506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4128" y="9381935"/>
            <a:ext cx="21031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8" b="true">
                <a:solidFill>
                  <a:srgbClr val="22302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MM Solutions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03904" y="9406890"/>
            <a:ext cx="252374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1">
                <a:solidFill>
                  <a:srgbClr val="B47A34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Hotel El Almendro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8782050"/>
            <a:ext cx="18288000" cy="1504950"/>
            <a:chOff x="0" y="0"/>
            <a:chExt cx="24384000" cy="2006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06600"/>
                  </a:lnTo>
                  <a:lnTo>
                    <a:pt x="0" y="200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71500" y="571500"/>
              <a:ext cx="596900" cy="863600"/>
            </a:xfrm>
            <a:custGeom>
              <a:avLst/>
              <a:gdLst/>
              <a:ahLst/>
              <a:cxnLst/>
              <a:rect r="r" b="b" t="t" l="l"/>
              <a:pathLst>
                <a:path h="8636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343400" y="571500"/>
              <a:ext cx="304800" cy="863600"/>
            </a:xfrm>
            <a:custGeom>
              <a:avLst/>
              <a:gdLst/>
              <a:ahLst/>
              <a:cxnLst/>
              <a:rect r="r" b="b" t="t" l="l"/>
              <a:pathLst>
                <a:path h="8636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389888" y="819404"/>
              <a:ext cx="2953512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6"/>
                </a:lnSpc>
              </a:pPr>
              <a:r>
                <a:rPr lang="en-US" sz="2489" b="true">
                  <a:solidFill>
                    <a:srgbClr val="5D62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MM Solutions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096256" y="832104"/>
              <a:ext cx="329184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4"/>
                </a:lnSpc>
              </a:pPr>
              <a:r>
                <a:rPr lang="en-US" sz="2336">
                  <a:solidFill>
                    <a:srgbClr val="A6A6A6"/>
                  </a:solidFill>
                  <a:latin typeface="DM Sans"/>
                  <a:ea typeface="DM Sans"/>
                  <a:cs typeface="DM Sans"/>
                  <a:sym typeface="DM Sans"/>
                </a:rPr>
                <a:t>Hotel El Almendro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04672" y="1505550"/>
            <a:ext cx="4600648" cy="126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7"/>
              </a:lnSpc>
            </a:pPr>
            <a:r>
              <a:rPr lang="en-US" sz="8817" spc="-176">
                <a:solidFill>
                  <a:srgbClr val="223027"/>
                </a:solidFill>
                <a:latin typeface="Boston Angel"/>
                <a:ea typeface="Boston Angel"/>
                <a:cs typeface="Boston Angel"/>
                <a:sym typeface="Boston Angel"/>
              </a:rPr>
              <a:t>Contexto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336799" y="1612842"/>
            <a:ext cx="3869989" cy="2847131"/>
            <a:chOff x="0" y="0"/>
            <a:chExt cx="5159986" cy="37961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59986" cy="3796175"/>
            </a:xfrm>
            <a:custGeom>
              <a:avLst/>
              <a:gdLst/>
              <a:ahLst/>
              <a:cxnLst/>
              <a:rect r="r" b="b" t="t" l="l"/>
              <a:pathLst>
                <a:path h="3796175" w="5159986">
                  <a:moveTo>
                    <a:pt x="0" y="0"/>
                  </a:moveTo>
                  <a:lnTo>
                    <a:pt x="5159986" y="0"/>
                  </a:lnTo>
                  <a:lnTo>
                    <a:pt x="5159986" y="3796175"/>
                  </a:lnTo>
                  <a:lnTo>
                    <a:pt x="0" y="3796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846572" y="633790"/>
              <a:ext cx="1400960" cy="1819428"/>
            </a:xfrm>
            <a:custGeom>
              <a:avLst/>
              <a:gdLst/>
              <a:ahLst/>
              <a:cxnLst/>
              <a:rect r="r" b="b" t="t" l="l"/>
              <a:pathLst>
                <a:path h="1819428" w="1400960">
                  <a:moveTo>
                    <a:pt x="0" y="0"/>
                  </a:moveTo>
                  <a:lnTo>
                    <a:pt x="1400959" y="0"/>
                  </a:lnTo>
                  <a:lnTo>
                    <a:pt x="1400959" y="1819428"/>
                  </a:lnTo>
                  <a:lnTo>
                    <a:pt x="0" y="1819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838814" y="2760591"/>
              <a:ext cx="3482358" cy="5252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501" b="true">
                  <a:solidFill>
                    <a:srgbClr val="22302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Situación Actual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42922" y="3783475"/>
            <a:ext cx="4101978" cy="2847131"/>
            <a:chOff x="0" y="0"/>
            <a:chExt cx="5469304" cy="37961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69304" cy="3796175"/>
            </a:xfrm>
            <a:custGeom>
              <a:avLst/>
              <a:gdLst/>
              <a:ahLst/>
              <a:cxnLst/>
              <a:rect r="r" b="b" t="t" l="l"/>
              <a:pathLst>
                <a:path h="3796175" w="5469304">
                  <a:moveTo>
                    <a:pt x="0" y="0"/>
                  </a:moveTo>
                  <a:lnTo>
                    <a:pt x="5469304" y="0"/>
                  </a:lnTo>
                  <a:lnTo>
                    <a:pt x="5469304" y="3796175"/>
                  </a:lnTo>
                  <a:lnTo>
                    <a:pt x="0" y="3796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892333" y="605515"/>
              <a:ext cx="1684637" cy="1745738"/>
            </a:xfrm>
            <a:custGeom>
              <a:avLst/>
              <a:gdLst/>
              <a:ahLst/>
              <a:cxnLst/>
              <a:rect r="r" b="b" t="t" l="l"/>
              <a:pathLst>
                <a:path h="1745738" w="1684637">
                  <a:moveTo>
                    <a:pt x="0" y="0"/>
                  </a:moveTo>
                  <a:lnTo>
                    <a:pt x="1684637" y="0"/>
                  </a:lnTo>
                  <a:lnTo>
                    <a:pt x="1684637" y="1745738"/>
                  </a:lnTo>
                  <a:lnTo>
                    <a:pt x="0" y="1745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249657" y="2521478"/>
              <a:ext cx="2984049" cy="4876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9"/>
                </a:lnSpc>
              </a:pPr>
              <a:r>
                <a:rPr lang="en-US" sz="2407" b="true">
                  <a:solidFill>
                    <a:srgbClr val="22302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 quien Afecta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581033" y="5944444"/>
            <a:ext cx="4587044" cy="2847131"/>
            <a:chOff x="0" y="0"/>
            <a:chExt cx="6116059" cy="37961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116059" cy="3796175"/>
            </a:xfrm>
            <a:custGeom>
              <a:avLst/>
              <a:gdLst/>
              <a:ahLst/>
              <a:cxnLst/>
              <a:rect r="r" b="b" t="t" l="l"/>
              <a:pathLst>
                <a:path h="3796175" w="6116059">
                  <a:moveTo>
                    <a:pt x="0" y="0"/>
                  </a:moveTo>
                  <a:lnTo>
                    <a:pt x="6116059" y="0"/>
                  </a:lnTo>
                  <a:lnTo>
                    <a:pt x="6116059" y="3796175"/>
                  </a:lnTo>
                  <a:lnTo>
                    <a:pt x="0" y="3796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256580" y="780411"/>
              <a:ext cx="1602900" cy="1570842"/>
            </a:xfrm>
            <a:custGeom>
              <a:avLst/>
              <a:gdLst/>
              <a:ahLst/>
              <a:cxnLst/>
              <a:rect r="r" b="b" t="t" l="l"/>
              <a:pathLst>
                <a:path h="1570842" w="1602900">
                  <a:moveTo>
                    <a:pt x="0" y="0"/>
                  </a:moveTo>
                  <a:lnTo>
                    <a:pt x="1602899" y="0"/>
                  </a:lnTo>
                  <a:lnTo>
                    <a:pt x="1602899" y="1570842"/>
                  </a:lnTo>
                  <a:lnTo>
                    <a:pt x="0" y="1570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1977468" y="2535599"/>
              <a:ext cx="2161124" cy="473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7"/>
                </a:lnSpc>
              </a:pPr>
              <a:r>
                <a:rPr lang="en-US" sz="2314" b="true">
                  <a:solidFill>
                    <a:srgbClr val="22302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Necesidad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" y="428625"/>
            <a:ext cx="2190750" cy="647700"/>
          </a:xfrm>
          <a:custGeom>
            <a:avLst/>
            <a:gdLst/>
            <a:ahLst/>
            <a:cxnLst/>
            <a:rect r="r" b="b" t="t" l="l"/>
            <a:pathLst>
              <a:path h="647700" w="2190750">
                <a:moveTo>
                  <a:pt x="0" y="0"/>
                </a:moveTo>
                <a:lnTo>
                  <a:pt x="2190750" y="0"/>
                </a:lnTo>
                <a:lnTo>
                  <a:pt x="2190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09850" y="42862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700" y="2571750"/>
            <a:ext cx="3924300" cy="3429000"/>
          </a:xfrm>
          <a:custGeom>
            <a:avLst/>
            <a:gdLst/>
            <a:ahLst/>
            <a:cxnLst/>
            <a:rect r="r" b="b" t="t" l="l"/>
            <a:pathLst>
              <a:path h="3429000" w="3924300">
                <a:moveTo>
                  <a:pt x="0" y="0"/>
                </a:moveTo>
                <a:lnTo>
                  <a:pt x="3924300" y="0"/>
                </a:lnTo>
                <a:lnTo>
                  <a:pt x="39243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4000" y="4495800"/>
            <a:ext cx="1962150" cy="438150"/>
          </a:xfrm>
          <a:custGeom>
            <a:avLst/>
            <a:gdLst/>
            <a:ahLst/>
            <a:cxnLst/>
            <a:rect r="r" b="b" t="t" l="l"/>
            <a:pathLst>
              <a:path h="438150" w="1962150">
                <a:moveTo>
                  <a:pt x="0" y="0"/>
                </a:moveTo>
                <a:lnTo>
                  <a:pt x="1962150" y="0"/>
                </a:lnTo>
                <a:lnTo>
                  <a:pt x="1962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81550" y="2571750"/>
            <a:ext cx="3933825" cy="3429000"/>
          </a:xfrm>
          <a:custGeom>
            <a:avLst/>
            <a:gdLst/>
            <a:ahLst/>
            <a:cxnLst/>
            <a:rect r="r" b="b" t="t" l="l"/>
            <a:pathLst>
              <a:path h="3429000" w="3933825">
                <a:moveTo>
                  <a:pt x="0" y="0"/>
                </a:moveTo>
                <a:lnTo>
                  <a:pt x="3933825" y="0"/>
                </a:lnTo>
                <a:lnTo>
                  <a:pt x="393382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42622" y="4263591"/>
            <a:ext cx="1535541" cy="25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B2965D"/>
                </a:solidFill>
                <a:latin typeface="Inter Bold"/>
                <a:ea typeface="Inter Bold"/>
                <a:cs typeface="Inter Bold"/>
                <a:sym typeface="Inter Bold"/>
              </a:rPr>
              <a:t>REST / HTTP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57850" y="4495800"/>
            <a:ext cx="2181225" cy="438150"/>
          </a:xfrm>
          <a:custGeom>
            <a:avLst/>
            <a:gdLst/>
            <a:ahLst/>
            <a:cxnLst/>
            <a:rect r="r" b="b" t="t" l="l"/>
            <a:pathLst>
              <a:path h="438150" w="2181225">
                <a:moveTo>
                  <a:pt x="0" y="0"/>
                </a:moveTo>
                <a:lnTo>
                  <a:pt x="2181225" y="0"/>
                </a:lnTo>
                <a:lnTo>
                  <a:pt x="2181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2571750"/>
            <a:ext cx="3924300" cy="3429000"/>
          </a:xfrm>
          <a:custGeom>
            <a:avLst/>
            <a:gdLst/>
            <a:ahLst/>
            <a:cxnLst/>
            <a:rect r="r" b="b" t="t" l="l"/>
            <a:pathLst>
              <a:path h="3429000" w="3924300">
                <a:moveTo>
                  <a:pt x="0" y="0"/>
                </a:moveTo>
                <a:lnTo>
                  <a:pt x="3924300" y="0"/>
                </a:lnTo>
                <a:lnTo>
                  <a:pt x="39243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10775" y="4495800"/>
            <a:ext cx="2181225" cy="438150"/>
          </a:xfrm>
          <a:custGeom>
            <a:avLst/>
            <a:gdLst/>
            <a:ahLst/>
            <a:cxnLst/>
            <a:rect r="r" b="b" t="t" l="l"/>
            <a:pathLst>
              <a:path h="438150" w="2181225">
                <a:moveTo>
                  <a:pt x="0" y="0"/>
                </a:moveTo>
                <a:lnTo>
                  <a:pt x="2181225" y="0"/>
                </a:lnTo>
                <a:lnTo>
                  <a:pt x="2181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16000" y="2571750"/>
            <a:ext cx="3705225" cy="3429000"/>
          </a:xfrm>
          <a:custGeom>
            <a:avLst/>
            <a:gdLst/>
            <a:ahLst/>
            <a:cxnLst/>
            <a:rect r="r" b="b" t="t" l="l"/>
            <a:pathLst>
              <a:path h="3429000" w="3705225">
                <a:moveTo>
                  <a:pt x="0" y="0"/>
                </a:moveTo>
                <a:lnTo>
                  <a:pt x="3705225" y="0"/>
                </a:lnTo>
                <a:lnTo>
                  <a:pt x="370522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63700" y="4495800"/>
            <a:ext cx="2190750" cy="438150"/>
          </a:xfrm>
          <a:custGeom>
            <a:avLst/>
            <a:gdLst/>
            <a:ahLst/>
            <a:cxnLst/>
            <a:rect r="r" b="b" t="t" l="l"/>
            <a:pathLst>
              <a:path h="438150" w="2190750">
                <a:moveTo>
                  <a:pt x="0" y="0"/>
                </a:moveTo>
                <a:lnTo>
                  <a:pt x="2190750" y="0"/>
                </a:lnTo>
                <a:lnTo>
                  <a:pt x="2190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7700" y="6000750"/>
            <a:ext cx="3924300" cy="2143125"/>
          </a:xfrm>
          <a:custGeom>
            <a:avLst/>
            <a:gdLst/>
            <a:ahLst/>
            <a:cxnLst/>
            <a:rect r="r" b="b" t="t" l="l"/>
            <a:pathLst>
              <a:path h="2143125" w="3924300">
                <a:moveTo>
                  <a:pt x="0" y="0"/>
                </a:moveTo>
                <a:lnTo>
                  <a:pt x="3924300" y="0"/>
                </a:lnTo>
                <a:lnTo>
                  <a:pt x="39243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5850" y="7067550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81550" y="6000750"/>
            <a:ext cx="4152900" cy="2143125"/>
          </a:xfrm>
          <a:custGeom>
            <a:avLst/>
            <a:gdLst/>
            <a:ahLst/>
            <a:cxnLst/>
            <a:rect r="r" b="b" t="t" l="l"/>
            <a:pathLst>
              <a:path h="2143125" w="4152900">
                <a:moveTo>
                  <a:pt x="0" y="0"/>
                </a:moveTo>
                <a:lnTo>
                  <a:pt x="4152900" y="0"/>
                </a:lnTo>
                <a:lnTo>
                  <a:pt x="41529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219700" y="7067550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4000" y="6000750"/>
            <a:ext cx="3924300" cy="2143125"/>
          </a:xfrm>
          <a:custGeom>
            <a:avLst/>
            <a:gdLst/>
            <a:ahLst/>
            <a:cxnLst/>
            <a:rect r="r" b="b" t="t" l="l"/>
            <a:pathLst>
              <a:path h="2143125" w="3924300">
                <a:moveTo>
                  <a:pt x="0" y="0"/>
                </a:moveTo>
                <a:lnTo>
                  <a:pt x="3924300" y="0"/>
                </a:lnTo>
                <a:lnTo>
                  <a:pt x="39243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572625" y="7067550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496925" y="6000750"/>
            <a:ext cx="4143375" cy="2143125"/>
          </a:xfrm>
          <a:custGeom>
            <a:avLst/>
            <a:gdLst/>
            <a:ahLst/>
            <a:cxnLst/>
            <a:rect r="r" b="b" t="t" l="l"/>
            <a:pathLst>
              <a:path h="2143125" w="4143375">
                <a:moveTo>
                  <a:pt x="0" y="0"/>
                </a:moveTo>
                <a:lnTo>
                  <a:pt x="4143375" y="0"/>
                </a:lnTo>
                <a:lnTo>
                  <a:pt x="41433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925550" y="7067550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133850" y="3857625"/>
            <a:ext cx="876300" cy="428625"/>
          </a:xfrm>
          <a:custGeom>
            <a:avLst/>
            <a:gdLst/>
            <a:ahLst/>
            <a:cxnLst/>
            <a:rect r="r" b="b" t="t" l="l"/>
            <a:pathLst>
              <a:path h="428625" w="876300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486775" y="3857625"/>
            <a:ext cx="876300" cy="428625"/>
          </a:xfrm>
          <a:custGeom>
            <a:avLst/>
            <a:gdLst/>
            <a:ahLst/>
            <a:cxnLst/>
            <a:rect r="r" b="b" t="t" l="l"/>
            <a:pathLst>
              <a:path h="428625" w="876300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839700" y="3857625"/>
            <a:ext cx="876300" cy="428625"/>
          </a:xfrm>
          <a:custGeom>
            <a:avLst/>
            <a:gdLst/>
            <a:ahLst/>
            <a:cxnLst/>
            <a:rect r="r" b="b" t="t" l="l"/>
            <a:pathLst>
              <a:path h="428625" w="876300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077565" y="2730732"/>
            <a:ext cx="1013520" cy="967912"/>
          </a:xfrm>
          <a:custGeom>
            <a:avLst/>
            <a:gdLst/>
            <a:ahLst/>
            <a:cxnLst/>
            <a:rect r="r" b="b" t="t" l="l"/>
            <a:pathLst>
              <a:path h="967912" w="1013520">
                <a:moveTo>
                  <a:pt x="0" y="0"/>
                </a:moveTo>
                <a:lnTo>
                  <a:pt x="1013520" y="0"/>
                </a:lnTo>
                <a:lnTo>
                  <a:pt x="1013520" y="967911"/>
                </a:lnTo>
                <a:lnTo>
                  <a:pt x="0" y="9679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189204" y="2764137"/>
            <a:ext cx="1002171" cy="967095"/>
          </a:xfrm>
          <a:custGeom>
            <a:avLst/>
            <a:gdLst/>
            <a:ahLst/>
            <a:cxnLst/>
            <a:rect r="r" b="b" t="t" l="l"/>
            <a:pathLst>
              <a:path h="967095" w="1002171">
                <a:moveTo>
                  <a:pt x="0" y="0"/>
                </a:moveTo>
                <a:lnTo>
                  <a:pt x="1002171" y="0"/>
                </a:lnTo>
                <a:lnTo>
                  <a:pt x="1002171" y="967096"/>
                </a:lnTo>
                <a:lnTo>
                  <a:pt x="0" y="96709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748529" y="2861829"/>
            <a:ext cx="705717" cy="705717"/>
          </a:xfrm>
          <a:custGeom>
            <a:avLst/>
            <a:gdLst/>
            <a:ahLst/>
            <a:cxnLst/>
            <a:rect r="r" b="b" t="t" l="l"/>
            <a:pathLst>
              <a:path h="705717" w="705717">
                <a:moveTo>
                  <a:pt x="0" y="0"/>
                </a:moveTo>
                <a:lnTo>
                  <a:pt x="705717" y="0"/>
                </a:lnTo>
                <a:lnTo>
                  <a:pt x="705717" y="705717"/>
                </a:lnTo>
                <a:lnTo>
                  <a:pt x="0" y="70571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049160" y="2820556"/>
            <a:ext cx="836754" cy="929726"/>
          </a:xfrm>
          <a:custGeom>
            <a:avLst/>
            <a:gdLst/>
            <a:ahLst/>
            <a:cxnLst/>
            <a:rect r="r" b="b" t="t" l="l"/>
            <a:pathLst>
              <a:path h="929726" w="836754">
                <a:moveTo>
                  <a:pt x="0" y="0"/>
                </a:moveTo>
                <a:lnTo>
                  <a:pt x="836754" y="0"/>
                </a:lnTo>
                <a:lnTo>
                  <a:pt x="836754" y="929727"/>
                </a:lnTo>
                <a:lnTo>
                  <a:pt x="0" y="92972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25382" y="6324124"/>
            <a:ext cx="517693" cy="639127"/>
          </a:xfrm>
          <a:custGeom>
            <a:avLst/>
            <a:gdLst/>
            <a:ahLst/>
            <a:cxnLst/>
            <a:rect r="r" b="b" t="t" l="l"/>
            <a:pathLst>
              <a:path h="639127" w="517693">
                <a:moveTo>
                  <a:pt x="0" y="0"/>
                </a:moveTo>
                <a:lnTo>
                  <a:pt x="517693" y="0"/>
                </a:lnTo>
                <a:lnTo>
                  <a:pt x="517693" y="639127"/>
                </a:lnTo>
                <a:lnTo>
                  <a:pt x="0" y="63912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774321" y="6248400"/>
            <a:ext cx="829765" cy="789090"/>
          </a:xfrm>
          <a:custGeom>
            <a:avLst/>
            <a:gdLst/>
            <a:ahLst/>
            <a:cxnLst/>
            <a:rect r="r" b="b" t="t" l="l"/>
            <a:pathLst>
              <a:path h="789090" w="829765">
                <a:moveTo>
                  <a:pt x="0" y="0"/>
                </a:moveTo>
                <a:lnTo>
                  <a:pt x="829765" y="0"/>
                </a:lnTo>
                <a:lnTo>
                  <a:pt x="829765" y="789090"/>
                </a:lnTo>
                <a:lnTo>
                  <a:pt x="0" y="78909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984656" y="6254102"/>
            <a:ext cx="606868" cy="670573"/>
          </a:xfrm>
          <a:custGeom>
            <a:avLst/>
            <a:gdLst/>
            <a:ahLst/>
            <a:cxnLst/>
            <a:rect r="r" b="b" t="t" l="l"/>
            <a:pathLst>
              <a:path h="670573" w="606868">
                <a:moveTo>
                  <a:pt x="0" y="0"/>
                </a:moveTo>
                <a:lnTo>
                  <a:pt x="606868" y="0"/>
                </a:lnTo>
                <a:lnTo>
                  <a:pt x="606868" y="670573"/>
                </a:lnTo>
                <a:lnTo>
                  <a:pt x="0" y="67057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983847" y="551111"/>
            <a:ext cx="1652829" cy="371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26">
                <a:solidFill>
                  <a:srgbClr val="26262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ECO-HOTEL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4345" y="1127875"/>
            <a:ext cx="8538149" cy="74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5277" spc="-157" b="true">
                <a:solidFill>
                  <a:srgbClr val="263D32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Arquitectura de la solución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71081" y="2016658"/>
            <a:ext cx="9864602" cy="30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24" b="true">
                <a:solidFill>
                  <a:srgbClr val="B2965D"/>
                </a:solidFill>
                <a:latin typeface="Inter Bold"/>
                <a:ea typeface="Inter Bold"/>
                <a:cs typeface="Inter Bold"/>
                <a:sym typeface="Inter Bold"/>
              </a:rPr>
              <a:t>Tecnologías principales y responsabilidad de cada componente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834168" y="3855058"/>
            <a:ext cx="1416227" cy="30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24">
                <a:solidFill>
                  <a:srgbClr val="263D32"/>
                </a:solidFill>
                <a:latin typeface="Inter Bold"/>
                <a:ea typeface="Inter Bold"/>
                <a:cs typeface="Inter Bold"/>
                <a:sym typeface="Inter Bold"/>
              </a:rPr>
              <a:t>Frontend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6969" y="4873579"/>
            <a:ext cx="2205614" cy="53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263D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Interfaz web y</a:t>
            </a:r>
          </a:p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263D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experiencia de usuario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727950" y="4873579"/>
            <a:ext cx="1964884" cy="53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263D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Comunicación entre</a:t>
            </a:r>
          </a:p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263D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frontend y backend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56347" y="3839989"/>
            <a:ext cx="1358280" cy="30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24">
                <a:solidFill>
                  <a:srgbClr val="263D32"/>
                </a:solidFill>
                <a:latin typeface="Inter Bold"/>
                <a:ea typeface="Inter Bold"/>
                <a:cs typeface="Inter Bold"/>
                <a:sym typeface="Inter Bold"/>
              </a:rPr>
              <a:t>Backend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84656" y="4828372"/>
            <a:ext cx="2101661" cy="8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263D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Lógica, validaciones, seguridad y procesos</a:t>
            </a:r>
          </a:p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263D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OMM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364540" y="3855058"/>
            <a:ext cx="2176926" cy="30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24">
                <a:solidFill>
                  <a:srgbClr val="263D32"/>
                </a:solidFill>
                <a:latin typeface="Inter Bold"/>
                <a:ea typeface="Inter Bold"/>
                <a:cs typeface="Inter Bold"/>
                <a:sym typeface="Inter Bold"/>
              </a:rPr>
              <a:t>Base de datos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457605" y="4873579"/>
            <a:ext cx="1990795" cy="53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263D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Datos operacionales</a:t>
            </a:r>
          </a:p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263D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estructurados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84616" y="7299663"/>
            <a:ext cx="2672852" cy="53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263D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Autenticación, autorización</a:t>
            </a:r>
          </a:p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263D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 protección de APIs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293626" y="7299663"/>
            <a:ext cx="2905864" cy="53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263D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Control de versiones y migraciones de base de datos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649388" y="7299664"/>
            <a:ext cx="2877209" cy="53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263D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Gestión y almacenamiento de documentos del sistema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028117" y="7299664"/>
            <a:ext cx="2849771" cy="53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263D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Procesamiento e importación de archivos Excel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878022" y="6501110"/>
            <a:ext cx="2180630" cy="275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21">
                <a:solidFill>
                  <a:srgbClr val="263D32"/>
                </a:solidFill>
                <a:latin typeface="Inter Bold"/>
                <a:ea typeface="Inter Bold"/>
                <a:cs typeface="Inter Bold"/>
                <a:sym typeface="Inter Bold"/>
              </a:rPr>
              <a:t>Spring Security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568588" y="4263591"/>
            <a:ext cx="1768829" cy="25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B2965D"/>
                </a:solidFill>
                <a:latin typeface="Inter Bold"/>
                <a:ea typeface="Inter Bold"/>
                <a:cs typeface="Inter Bold"/>
                <a:sym typeface="Inter Bold"/>
              </a:rPr>
              <a:t>PostgreSQL 18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367826" y="6537688"/>
            <a:ext cx="1720939" cy="275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21">
                <a:solidFill>
                  <a:srgbClr val="263D32"/>
                </a:solidFill>
                <a:latin typeface="Inter Bold"/>
                <a:ea typeface="Inter Bold"/>
                <a:cs typeface="Inter Bold"/>
                <a:sym typeface="Inter Bold"/>
              </a:rPr>
              <a:t>Apache POI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16304" y="4263591"/>
            <a:ext cx="1638365" cy="25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B2965D"/>
                </a:solidFill>
                <a:latin typeface="Inter Bold"/>
                <a:ea typeface="Inter Bold"/>
                <a:cs typeface="Inter Bold"/>
                <a:sym typeface="Inter Bold"/>
              </a:rPr>
              <a:t>Spring Boot 4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766294" y="6501110"/>
            <a:ext cx="1896666" cy="275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21">
                <a:solidFill>
                  <a:srgbClr val="263D32"/>
                </a:solidFill>
                <a:latin typeface="Inter Bold"/>
                <a:ea typeface="Inter Bold"/>
                <a:cs typeface="Inter Bold"/>
                <a:sym typeface="Inter Bold"/>
              </a:rPr>
              <a:t>Documentos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878022" y="4263591"/>
            <a:ext cx="1328520" cy="25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B2965D"/>
                </a:solidFill>
                <a:latin typeface="Inter Bold"/>
                <a:ea typeface="Inter Bold"/>
                <a:cs typeface="Inter Bold"/>
                <a:sym typeface="Inter Bold"/>
              </a:rPr>
              <a:t>Angular 22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890990" y="6501110"/>
            <a:ext cx="1174346" cy="275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21">
                <a:solidFill>
                  <a:srgbClr val="263D32"/>
                </a:solidFill>
                <a:latin typeface="Inter Bold"/>
                <a:ea typeface="Inter Bold"/>
                <a:cs typeface="Inter Bold"/>
                <a:sym typeface="Inter Bold"/>
              </a:rPr>
              <a:t>Flyway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450640" y="3855058"/>
            <a:ext cx="534507" cy="30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24">
                <a:solidFill>
                  <a:srgbClr val="263D32"/>
                </a:solidFill>
                <a:latin typeface="Inter Bold"/>
                <a:ea typeface="Inter Bold"/>
                <a:cs typeface="Inter Bold"/>
                <a:sym typeface="Inter Bold"/>
              </a:rPr>
              <a:t>API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4116050" y="6472349"/>
            <a:ext cx="1201484" cy="341192"/>
          </a:xfrm>
          <a:custGeom>
            <a:avLst/>
            <a:gdLst/>
            <a:ahLst/>
            <a:cxnLst/>
            <a:rect r="r" b="b" t="t" l="l"/>
            <a:pathLst>
              <a:path h="341192" w="1201484">
                <a:moveTo>
                  <a:pt x="0" y="0"/>
                </a:moveTo>
                <a:lnTo>
                  <a:pt x="1201484" y="0"/>
                </a:lnTo>
                <a:lnTo>
                  <a:pt x="1201484" y="341192"/>
                </a:lnTo>
                <a:lnTo>
                  <a:pt x="0" y="341192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-3687" t="-89744" r="-11687" b="-8111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0" y="8782050"/>
            <a:ext cx="18288000" cy="1504950"/>
            <a:chOff x="0" y="0"/>
            <a:chExt cx="24384000" cy="2006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384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06600"/>
                  </a:lnTo>
                  <a:lnTo>
                    <a:pt x="0" y="200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0" b="0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571500" y="571500"/>
              <a:ext cx="596900" cy="863600"/>
            </a:xfrm>
            <a:custGeom>
              <a:avLst/>
              <a:gdLst/>
              <a:ahLst/>
              <a:cxnLst/>
              <a:rect r="r" b="b" t="t" l="l"/>
              <a:pathLst>
                <a:path h="8636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 l="0" t="0" r="0" b="0"/>
              </a:stretch>
            </a:blip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4343400" y="571500"/>
              <a:ext cx="304800" cy="863600"/>
            </a:xfrm>
            <a:custGeom>
              <a:avLst/>
              <a:gdLst/>
              <a:ahLst/>
              <a:cxnLst/>
              <a:rect r="r" b="b" t="t" l="l"/>
              <a:pathLst>
                <a:path h="8636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0" t="0" r="0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 rot="0">
              <a:off x="1389888" y="819404"/>
              <a:ext cx="2953512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6"/>
                </a:lnSpc>
              </a:pPr>
              <a:r>
                <a:rPr lang="en-US" sz="2489" b="true">
                  <a:solidFill>
                    <a:srgbClr val="5D62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MM Solutions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5096256" y="832104"/>
              <a:ext cx="329184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4"/>
                </a:lnSpc>
              </a:pPr>
              <a:r>
                <a:rPr lang="en-US" sz="2336">
                  <a:solidFill>
                    <a:srgbClr val="A6A6A6"/>
                  </a:solidFill>
                  <a:latin typeface="DM Sans"/>
                  <a:ea typeface="DM Sans"/>
                  <a:cs typeface="DM Sans"/>
                  <a:sym typeface="DM Sans"/>
                </a:rPr>
                <a:t>Hotel El Almendro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14801850" y="0"/>
            <a:ext cx="3486150" cy="2143125"/>
          </a:xfrm>
          <a:custGeom>
            <a:avLst/>
            <a:gdLst/>
            <a:ahLst/>
            <a:cxnLst/>
            <a:rect r="r" b="b" t="t" l="l"/>
            <a:pathLst>
              <a:path h="2143125" w="3486150">
                <a:moveTo>
                  <a:pt x="0" y="0"/>
                </a:moveTo>
                <a:lnTo>
                  <a:pt x="3486150" y="0"/>
                </a:lnTo>
                <a:lnTo>
                  <a:pt x="3486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76366" y="2855255"/>
            <a:ext cx="1323238" cy="744321"/>
          </a:xfrm>
          <a:custGeom>
            <a:avLst/>
            <a:gdLst/>
            <a:ahLst/>
            <a:cxnLst/>
            <a:rect r="r" b="b" t="t" l="l"/>
            <a:pathLst>
              <a:path h="744321" w="1323238">
                <a:moveTo>
                  <a:pt x="0" y="0"/>
                </a:moveTo>
                <a:lnTo>
                  <a:pt x="1323238" y="0"/>
                </a:lnTo>
                <a:lnTo>
                  <a:pt x="1323238" y="744321"/>
                </a:lnTo>
                <a:lnTo>
                  <a:pt x="0" y="744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85505" y="2855255"/>
            <a:ext cx="1141292" cy="744321"/>
          </a:xfrm>
          <a:custGeom>
            <a:avLst/>
            <a:gdLst/>
            <a:ahLst/>
            <a:cxnLst/>
            <a:rect r="r" b="b" t="t" l="l"/>
            <a:pathLst>
              <a:path h="744321" w="1141292">
                <a:moveTo>
                  <a:pt x="0" y="0"/>
                </a:moveTo>
                <a:lnTo>
                  <a:pt x="1141292" y="0"/>
                </a:lnTo>
                <a:lnTo>
                  <a:pt x="1141292" y="744321"/>
                </a:lnTo>
                <a:lnTo>
                  <a:pt x="0" y="7443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09388" y="2483094"/>
            <a:ext cx="10776117" cy="934537"/>
          </a:xfrm>
          <a:custGeom>
            <a:avLst/>
            <a:gdLst/>
            <a:ahLst/>
            <a:cxnLst/>
            <a:rect r="r" b="b" t="t" l="l"/>
            <a:pathLst>
              <a:path h="934537" w="10776117">
                <a:moveTo>
                  <a:pt x="0" y="0"/>
                </a:moveTo>
                <a:lnTo>
                  <a:pt x="10776117" y="0"/>
                </a:lnTo>
                <a:lnTo>
                  <a:pt x="10776117" y="934537"/>
                </a:lnTo>
                <a:lnTo>
                  <a:pt x="0" y="934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55863" y="2665039"/>
            <a:ext cx="570646" cy="562376"/>
          </a:xfrm>
          <a:custGeom>
            <a:avLst/>
            <a:gdLst/>
            <a:ahLst/>
            <a:cxnLst/>
            <a:rect r="r" b="b" t="t" l="l"/>
            <a:pathLst>
              <a:path h="562376" w="570646">
                <a:moveTo>
                  <a:pt x="0" y="0"/>
                </a:moveTo>
                <a:lnTo>
                  <a:pt x="570647" y="0"/>
                </a:lnTo>
                <a:lnTo>
                  <a:pt x="570647" y="562376"/>
                </a:lnTo>
                <a:lnTo>
                  <a:pt x="0" y="562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08455" y="2665039"/>
            <a:ext cx="198486" cy="562376"/>
          </a:xfrm>
          <a:custGeom>
            <a:avLst/>
            <a:gdLst/>
            <a:ahLst/>
            <a:cxnLst/>
            <a:rect r="r" b="b" t="t" l="l"/>
            <a:pathLst>
              <a:path h="562376" w="198486">
                <a:moveTo>
                  <a:pt x="0" y="0"/>
                </a:moveTo>
                <a:lnTo>
                  <a:pt x="198486" y="0"/>
                </a:lnTo>
                <a:lnTo>
                  <a:pt x="198486" y="562376"/>
                </a:lnTo>
                <a:lnTo>
                  <a:pt x="0" y="5623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5073" y="3599576"/>
            <a:ext cx="2654746" cy="2232964"/>
          </a:xfrm>
          <a:custGeom>
            <a:avLst/>
            <a:gdLst/>
            <a:ahLst/>
            <a:cxnLst/>
            <a:rect r="r" b="b" t="t" l="l"/>
            <a:pathLst>
              <a:path h="2232964" w="2654746">
                <a:moveTo>
                  <a:pt x="0" y="0"/>
                </a:moveTo>
                <a:lnTo>
                  <a:pt x="2654746" y="0"/>
                </a:lnTo>
                <a:lnTo>
                  <a:pt x="2654746" y="2232964"/>
                </a:lnTo>
                <a:lnTo>
                  <a:pt x="0" y="22329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95935" y="3781521"/>
            <a:ext cx="1141292" cy="1124752"/>
          </a:xfrm>
          <a:custGeom>
            <a:avLst/>
            <a:gdLst/>
            <a:ahLst/>
            <a:cxnLst/>
            <a:rect r="r" b="b" t="t" l="l"/>
            <a:pathLst>
              <a:path h="1124752" w="1141292">
                <a:moveTo>
                  <a:pt x="0" y="0"/>
                </a:moveTo>
                <a:lnTo>
                  <a:pt x="1141293" y="0"/>
                </a:lnTo>
                <a:lnTo>
                  <a:pt x="1141293" y="1124752"/>
                </a:lnTo>
                <a:lnTo>
                  <a:pt x="0" y="11247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81549" y="4153682"/>
            <a:ext cx="578916" cy="752591"/>
          </a:xfrm>
          <a:custGeom>
            <a:avLst/>
            <a:gdLst/>
            <a:ahLst/>
            <a:cxnLst/>
            <a:rect r="r" b="b" t="t" l="l"/>
            <a:pathLst>
              <a:path h="752591" w="578916">
                <a:moveTo>
                  <a:pt x="0" y="0"/>
                </a:moveTo>
                <a:lnTo>
                  <a:pt x="578916" y="0"/>
                </a:lnTo>
                <a:lnTo>
                  <a:pt x="578916" y="752591"/>
                </a:lnTo>
                <a:lnTo>
                  <a:pt x="0" y="7525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52195" y="3599576"/>
            <a:ext cx="2654746" cy="2232964"/>
          </a:xfrm>
          <a:custGeom>
            <a:avLst/>
            <a:gdLst/>
            <a:ahLst/>
            <a:cxnLst/>
            <a:rect r="r" b="b" t="t" l="l"/>
            <a:pathLst>
              <a:path h="2232964" w="2654746">
                <a:moveTo>
                  <a:pt x="0" y="0"/>
                </a:moveTo>
                <a:lnTo>
                  <a:pt x="2654746" y="0"/>
                </a:lnTo>
                <a:lnTo>
                  <a:pt x="2654746" y="2232964"/>
                </a:lnTo>
                <a:lnTo>
                  <a:pt x="0" y="22329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04786" y="3781521"/>
            <a:ext cx="1141292" cy="1124752"/>
          </a:xfrm>
          <a:custGeom>
            <a:avLst/>
            <a:gdLst/>
            <a:ahLst/>
            <a:cxnLst/>
            <a:rect r="r" b="b" t="t" l="l"/>
            <a:pathLst>
              <a:path h="1124752" w="1141292">
                <a:moveTo>
                  <a:pt x="0" y="0"/>
                </a:moveTo>
                <a:lnTo>
                  <a:pt x="1141293" y="0"/>
                </a:lnTo>
                <a:lnTo>
                  <a:pt x="1141293" y="1124752"/>
                </a:lnTo>
                <a:lnTo>
                  <a:pt x="0" y="11247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98670" y="4153682"/>
            <a:ext cx="570646" cy="752591"/>
          </a:xfrm>
          <a:custGeom>
            <a:avLst/>
            <a:gdLst/>
            <a:ahLst/>
            <a:cxnLst/>
            <a:rect r="r" b="b" t="t" l="l"/>
            <a:pathLst>
              <a:path h="752591" w="570646">
                <a:moveTo>
                  <a:pt x="0" y="0"/>
                </a:moveTo>
                <a:lnTo>
                  <a:pt x="570647" y="0"/>
                </a:lnTo>
                <a:lnTo>
                  <a:pt x="570647" y="752591"/>
                </a:lnTo>
                <a:lnTo>
                  <a:pt x="0" y="7525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569317" y="3599576"/>
            <a:ext cx="2646475" cy="2232964"/>
          </a:xfrm>
          <a:custGeom>
            <a:avLst/>
            <a:gdLst/>
            <a:ahLst/>
            <a:cxnLst/>
            <a:rect r="r" b="b" t="t" l="l"/>
            <a:pathLst>
              <a:path h="2232964" w="2646475">
                <a:moveTo>
                  <a:pt x="0" y="0"/>
                </a:moveTo>
                <a:lnTo>
                  <a:pt x="2646475" y="0"/>
                </a:lnTo>
                <a:lnTo>
                  <a:pt x="2646475" y="2232964"/>
                </a:lnTo>
                <a:lnTo>
                  <a:pt x="0" y="223296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321908" y="3781521"/>
            <a:ext cx="1141292" cy="1124752"/>
          </a:xfrm>
          <a:custGeom>
            <a:avLst/>
            <a:gdLst/>
            <a:ahLst/>
            <a:cxnLst/>
            <a:rect r="r" b="b" t="t" l="l"/>
            <a:pathLst>
              <a:path h="1124752" w="1141292">
                <a:moveTo>
                  <a:pt x="0" y="0"/>
                </a:moveTo>
                <a:lnTo>
                  <a:pt x="1141292" y="0"/>
                </a:lnTo>
                <a:lnTo>
                  <a:pt x="1141292" y="1124752"/>
                </a:lnTo>
                <a:lnTo>
                  <a:pt x="0" y="11247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25576" y="4153682"/>
            <a:ext cx="760862" cy="752591"/>
          </a:xfrm>
          <a:custGeom>
            <a:avLst/>
            <a:gdLst/>
            <a:ahLst/>
            <a:cxnLst/>
            <a:rect r="r" b="b" t="t" l="l"/>
            <a:pathLst>
              <a:path h="752591" w="760862">
                <a:moveTo>
                  <a:pt x="0" y="0"/>
                </a:moveTo>
                <a:lnTo>
                  <a:pt x="760862" y="0"/>
                </a:lnTo>
                <a:lnTo>
                  <a:pt x="760862" y="752591"/>
                </a:lnTo>
                <a:lnTo>
                  <a:pt x="0" y="75259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778168" y="3599576"/>
            <a:ext cx="2654746" cy="2232964"/>
          </a:xfrm>
          <a:custGeom>
            <a:avLst/>
            <a:gdLst/>
            <a:ahLst/>
            <a:cxnLst/>
            <a:rect r="r" b="b" t="t" l="l"/>
            <a:pathLst>
              <a:path h="2232964" w="2654746">
                <a:moveTo>
                  <a:pt x="0" y="0"/>
                </a:moveTo>
                <a:lnTo>
                  <a:pt x="2654745" y="0"/>
                </a:lnTo>
                <a:lnTo>
                  <a:pt x="2654745" y="2232964"/>
                </a:lnTo>
                <a:lnTo>
                  <a:pt x="0" y="223296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539030" y="3781521"/>
            <a:ext cx="1141292" cy="1124752"/>
          </a:xfrm>
          <a:custGeom>
            <a:avLst/>
            <a:gdLst/>
            <a:ahLst/>
            <a:cxnLst/>
            <a:rect r="r" b="b" t="t" l="l"/>
            <a:pathLst>
              <a:path h="1124752" w="1141292">
                <a:moveTo>
                  <a:pt x="0" y="0"/>
                </a:moveTo>
                <a:lnTo>
                  <a:pt x="1141292" y="0"/>
                </a:lnTo>
                <a:lnTo>
                  <a:pt x="1141292" y="1124752"/>
                </a:lnTo>
                <a:lnTo>
                  <a:pt x="0" y="112475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424643" y="4153682"/>
            <a:ext cx="578916" cy="752591"/>
          </a:xfrm>
          <a:custGeom>
            <a:avLst/>
            <a:gdLst/>
            <a:ahLst/>
            <a:cxnLst/>
            <a:rect r="r" b="b" t="t" l="l"/>
            <a:pathLst>
              <a:path h="752591" w="578916">
                <a:moveTo>
                  <a:pt x="0" y="0"/>
                </a:moveTo>
                <a:lnTo>
                  <a:pt x="578917" y="0"/>
                </a:lnTo>
                <a:lnTo>
                  <a:pt x="578917" y="752591"/>
                </a:lnTo>
                <a:lnTo>
                  <a:pt x="0" y="75259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995289" y="3599576"/>
            <a:ext cx="2464530" cy="2232964"/>
          </a:xfrm>
          <a:custGeom>
            <a:avLst/>
            <a:gdLst/>
            <a:ahLst/>
            <a:cxnLst/>
            <a:rect r="r" b="b" t="t" l="l"/>
            <a:pathLst>
              <a:path h="2232964" w="2464530">
                <a:moveTo>
                  <a:pt x="0" y="0"/>
                </a:moveTo>
                <a:lnTo>
                  <a:pt x="2464531" y="0"/>
                </a:lnTo>
                <a:lnTo>
                  <a:pt x="2464531" y="2232964"/>
                </a:lnTo>
                <a:lnTo>
                  <a:pt x="0" y="223296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747881" y="3781521"/>
            <a:ext cx="1141292" cy="1124752"/>
          </a:xfrm>
          <a:custGeom>
            <a:avLst/>
            <a:gdLst/>
            <a:ahLst/>
            <a:cxnLst/>
            <a:rect r="r" b="b" t="t" l="l"/>
            <a:pathLst>
              <a:path h="1124752" w="1141292">
                <a:moveTo>
                  <a:pt x="0" y="0"/>
                </a:moveTo>
                <a:lnTo>
                  <a:pt x="1141292" y="0"/>
                </a:lnTo>
                <a:lnTo>
                  <a:pt x="1141292" y="1124752"/>
                </a:lnTo>
                <a:lnTo>
                  <a:pt x="0" y="11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911190" y="5642324"/>
            <a:ext cx="198486" cy="562376"/>
          </a:xfrm>
          <a:custGeom>
            <a:avLst/>
            <a:gdLst/>
            <a:ahLst/>
            <a:cxnLst/>
            <a:rect r="r" b="b" t="t" l="l"/>
            <a:pathLst>
              <a:path h="562376" w="198486">
                <a:moveTo>
                  <a:pt x="0" y="0"/>
                </a:moveTo>
                <a:lnTo>
                  <a:pt x="198486" y="0"/>
                </a:lnTo>
                <a:lnTo>
                  <a:pt x="198486" y="562376"/>
                </a:lnTo>
                <a:lnTo>
                  <a:pt x="0" y="56237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128312" y="5642324"/>
            <a:ext cx="198486" cy="562376"/>
          </a:xfrm>
          <a:custGeom>
            <a:avLst/>
            <a:gdLst/>
            <a:ahLst/>
            <a:cxnLst/>
            <a:rect r="r" b="b" t="t" l="l"/>
            <a:pathLst>
              <a:path h="562376" w="198486">
                <a:moveTo>
                  <a:pt x="0" y="0"/>
                </a:moveTo>
                <a:lnTo>
                  <a:pt x="198485" y="0"/>
                </a:lnTo>
                <a:lnTo>
                  <a:pt x="198485" y="562376"/>
                </a:lnTo>
                <a:lnTo>
                  <a:pt x="0" y="56237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645146" y="6014485"/>
            <a:ext cx="4168199" cy="1678858"/>
          </a:xfrm>
          <a:custGeom>
            <a:avLst/>
            <a:gdLst/>
            <a:ahLst/>
            <a:cxnLst/>
            <a:rect r="r" b="b" t="t" l="l"/>
            <a:pathLst>
              <a:path h="1678858" w="4168199">
                <a:moveTo>
                  <a:pt x="0" y="0"/>
                </a:moveTo>
                <a:lnTo>
                  <a:pt x="4168198" y="0"/>
                </a:lnTo>
                <a:lnTo>
                  <a:pt x="4168198" y="1678857"/>
                </a:lnTo>
                <a:lnTo>
                  <a:pt x="0" y="167885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835361" y="6386645"/>
            <a:ext cx="951077" cy="934537"/>
          </a:xfrm>
          <a:custGeom>
            <a:avLst/>
            <a:gdLst/>
            <a:ahLst/>
            <a:cxnLst/>
            <a:rect r="r" b="b" t="t" l="l"/>
            <a:pathLst>
              <a:path h="934537" w="951077">
                <a:moveTo>
                  <a:pt x="0" y="0"/>
                </a:moveTo>
                <a:lnTo>
                  <a:pt x="951077" y="0"/>
                </a:lnTo>
                <a:lnTo>
                  <a:pt x="951077" y="934537"/>
                </a:lnTo>
                <a:lnTo>
                  <a:pt x="0" y="93453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805074" y="6014485"/>
            <a:ext cx="2844961" cy="934537"/>
          </a:xfrm>
          <a:custGeom>
            <a:avLst/>
            <a:gdLst/>
            <a:ahLst/>
            <a:cxnLst/>
            <a:rect r="r" b="b" t="t" l="l"/>
            <a:pathLst>
              <a:path h="934537" w="2844961">
                <a:moveTo>
                  <a:pt x="0" y="0"/>
                </a:moveTo>
                <a:lnTo>
                  <a:pt x="2844961" y="0"/>
                </a:lnTo>
                <a:lnTo>
                  <a:pt x="2844961" y="934536"/>
                </a:lnTo>
                <a:lnTo>
                  <a:pt x="0" y="93453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995289" y="6204700"/>
            <a:ext cx="570646" cy="562376"/>
          </a:xfrm>
          <a:custGeom>
            <a:avLst/>
            <a:gdLst/>
            <a:ahLst/>
            <a:cxnLst/>
            <a:rect r="r" b="b" t="t" l="l"/>
            <a:pathLst>
              <a:path h="562376" w="570646">
                <a:moveTo>
                  <a:pt x="0" y="0"/>
                </a:moveTo>
                <a:lnTo>
                  <a:pt x="570647" y="0"/>
                </a:lnTo>
                <a:lnTo>
                  <a:pt x="570647" y="562376"/>
                </a:lnTo>
                <a:lnTo>
                  <a:pt x="0" y="56237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725825" y="8074280"/>
            <a:ext cx="525684" cy="518065"/>
          </a:xfrm>
          <a:custGeom>
            <a:avLst/>
            <a:gdLst/>
            <a:ahLst/>
            <a:cxnLst/>
            <a:rect r="r" b="b" t="t" l="l"/>
            <a:pathLst>
              <a:path h="518065" w="525684">
                <a:moveTo>
                  <a:pt x="0" y="0"/>
                </a:moveTo>
                <a:lnTo>
                  <a:pt x="525684" y="0"/>
                </a:lnTo>
                <a:lnTo>
                  <a:pt x="525684" y="518065"/>
                </a:lnTo>
                <a:lnTo>
                  <a:pt x="0" y="51806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243890" y="7731442"/>
            <a:ext cx="4365463" cy="1203740"/>
          </a:xfrm>
          <a:custGeom>
            <a:avLst/>
            <a:gdLst/>
            <a:ahLst/>
            <a:cxnLst/>
            <a:rect r="r" b="b" t="t" l="l"/>
            <a:pathLst>
              <a:path h="1203740" w="4365463">
                <a:moveTo>
                  <a:pt x="0" y="0"/>
                </a:moveTo>
                <a:lnTo>
                  <a:pt x="4365463" y="0"/>
                </a:lnTo>
                <a:lnTo>
                  <a:pt x="4365463" y="1203741"/>
                </a:lnTo>
                <a:lnTo>
                  <a:pt x="0" y="120374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419118" y="7906670"/>
            <a:ext cx="876140" cy="860903"/>
          </a:xfrm>
          <a:custGeom>
            <a:avLst/>
            <a:gdLst/>
            <a:ahLst/>
            <a:cxnLst/>
            <a:rect r="r" b="b" t="t" l="l"/>
            <a:pathLst>
              <a:path h="860903" w="876140">
                <a:moveTo>
                  <a:pt x="0" y="0"/>
                </a:moveTo>
                <a:lnTo>
                  <a:pt x="876140" y="0"/>
                </a:lnTo>
                <a:lnTo>
                  <a:pt x="876140" y="860903"/>
                </a:lnTo>
                <a:lnTo>
                  <a:pt x="0" y="86090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462868" y="8074280"/>
            <a:ext cx="182847" cy="518065"/>
          </a:xfrm>
          <a:custGeom>
            <a:avLst/>
            <a:gdLst/>
            <a:ahLst/>
            <a:cxnLst/>
            <a:rect r="r" b="b" t="t" l="l"/>
            <a:pathLst>
              <a:path h="518065" w="182847">
                <a:moveTo>
                  <a:pt x="0" y="0"/>
                </a:moveTo>
                <a:lnTo>
                  <a:pt x="182846" y="0"/>
                </a:lnTo>
                <a:lnTo>
                  <a:pt x="182846" y="518065"/>
                </a:lnTo>
                <a:lnTo>
                  <a:pt x="0" y="51806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632752" y="8409072"/>
            <a:ext cx="1724745" cy="20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53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Spring aplica reglas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1776963" y="8074280"/>
            <a:ext cx="350456" cy="518065"/>
          </a:xfrm>
          <a:custGeom>
            <a:avLst/>
            <a:gdLst/>
            <a:ahLst/>
            <a:cxnLst/>
            <a:rect r="r" b="b" t="t" l="l"/>
            <a:pathLst>
              <a:path h="518065" w="350456">
                <a:moveTo>
                  <a:pt x="0" y="0"/>
                </a:moveTo>
                <a:lnTo>
                  <a:pt x="350456" y="0"/>
                </a:lnTo>
                <a:lnTo>
                  <a:pt x="350456" y="518065"/>
                </a:lnTo>
                <a:lnTo>
                  <a:pt x="0" y="51806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19800" y="7731442"/>
            <a:ext cx="4190235" cy="1203740"/>
          </a:xfrm>
          <a:custGeom>
            <a:avLst/>
            <a:gdLst/>
            <a:ahLst/>
            <a:cxnLst/>
            <a:rect r="r" b="b" t="t" l="l"/>
            <a:pathLst>
              <a:path h="1203740" w="4190235">
                <a:moveTo>
                  <a:pt x="0" y="0"/>
                </a:moveTo>
                <a:lnTo>
                  <a:pt x="4190235" y="0"/>
                </a:lnTo>
                <a:lnTo>
                  <a:pt x="4190235" y="1203741"/>
                </a:lnTo>
                <a:lnTo>
                  <a:pt x="0" y="1203741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470256" y="7906670"/>
            <a:ext cx="700912" cy="860903"/>
          </a:xfrm>
          <a:custGeom>
            <a:avLst/>
            <a:gdLst/>
            <a:ahLst/>
            <a:cxnLst/>
            <a:rect r="r" b="b" t="t" l="l"/>
            <a:pathLst>
              <a:path h="860903" w="700912">
                <a:moveTo>
                  <a:pt x="0" y="0"/>
                </a:moveTo>
                <a:lnTo>
                  <a:pt x="700912" y="0"/>
                </a:lnTo>
                <a:lnTo>
                  <a:pt x="700912" y="860903"/>
                </a:lnTo>
                <a:lnTo>
                  <a:pt x="0" y="86090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338777" y="8074280"/>
            <a:ext cx="182847" cy="518065"/>
          </a:xfrm>
          <a:custGeom>
            <a:avLst/>
            <a:gdLst/>
            <a:ahLst/>
            <a:cxnLst/>
            <a:rect r="r" b="b" t="t" l="l"/>
            <a:pathLst>
              <a:path h="518065" w="182847">
                <a:moveTo>
                  <a:pt x="0" y="0"/>
                </a:moveTo>
                <a:lnTo>
                  <a:pt x="182847" y="0"/>
                </a:lnTo>
                <a:lnTo>
                  <a:pt x="182847" y="518065"/>
                </a:lnTo>
                <a:lnTo>
                  <a:pt x="0" y="51806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539717" y="8117780"/>
            <a:ext cx="921807" cy="24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sz="1880" b="true">
                <a:solidFill>
                  <a:srgbClr val="062D25"/>
                </a:solidFill>
                <a:latin typeface="Roboto Bold"/>
                <a:ea typeface="Roboto Bold"/>
                <a:cs typeface="Roboto Bold"/>
                <a:sym typeface="Roboto Bold"/>
              </a:rPr>
              <a:t>Persiste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55752" y="8409072"/>
            <a:ext cx="2253529" cy="20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53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PostgreSQL guarda datos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242880" y="8120592"/>
            <a:ext cx="1607050" cy="23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"/>
              </a:lnSpc>
            </a:pPr>
            <a:r>
              <a:rPr lang="en-US" sz="1750" b="true">
                <a:solidFill>
                  <a:srgbClr val="062D25"/>
                </a:solidFill>
                <a:latin typeface="Roboto Bold"/>
                <a:ea typeface="Roboto Bold"/>
                <a:cs typeface="Roboto Bold"/>
                <a:sym typeface="Roboto Bold"/>
              </a:rPr>
              <a:t>Procesa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839058" y="8202328"/>
            <a:ext cx="175538" cy="31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231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734562" y="8202328"/>
            <a:ext cx="175538" cy="31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231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0" y="8782050"/>
            <a:ext cx="18288000" cy="1504950"/>
            <a:chOff x="0" y="0"/>
            <a:chExt cx="24384000" cy="2006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384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06600"/>
                  </a:lnTo>
                  <a:lnTo>
                    <a:pt x="0" y="200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571500" y="571500"/>
              <a:ext cx="596900" cy="863600"/>
            </a:xfrm>
            <a:custGeom>
              <a:avLst/>
              <a:gdLst/>
              <a:ahLst/>
              <a:cxnLst/>
              <a:rect r="r" b="b" t="t" l="l"/>
              <a:pathLst>
                <a:path h="8636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4343400" y="571500"/>
              <a:ext cx="304800" cy="863600"/>
            </a:xfrm>
            <a:custGeom>
              <a:avLst/>
              <a:gdLst/>
              <a:ahLst/>
              <a:cxnLst/>
              <a:rect r="r" b="b" t="t" l="l"/>
              <a:pathLst>
                <a:path h="8636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0" t="0" r="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 rot="0">
              <a:off x="1389888" y="819404"/>
              <a:ext cx="2953512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6"/>
                </a:lnSpc>
              </a:pPr>
              <a:r>
                <a:rPr lang="en-US" sz="2489" b="true">
                  <a:solidFill>
                    <a:srgbClr val="5D62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MM Solutions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5096256" y="832104"/>
              <a:ext cx="329184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4"/>
                </a:lnSpc>
              </a:pPr>
              <a:r>
                <a:rPr lang="en-US" sz="2336">
                  <a:solidFill>
                    <a:srgbClr val="A6A6A6"/>
                  </a:solidFill>
                  <a:latin typeface="DM Sans"/>
                  <a:ea typeface="DM Sans"/>
                  <a:cs typeface="DM Sans"/>
                  <a:sym typeface="DM Sans"/>
                </a:rPr>
                <a:t>Hotel El Almendro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4148328" y="1095375"/>
            <a:ext cx="10753046" cy="92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6566" b="true">
                <a:solidFill>
                  <a:srgbClr val="062D25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Diagrama de arquitectura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226526" y="2116201"/>
            <a:ext cx="9932315" cy="365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Flujo técnico principal y componentes secundarios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026473" y="4894003"/>
            <a:ext cx="931079" cy="28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1"/>
              </a:lnSpc>
            </a:pPr>
            <a:r>
              <a:rPr lang="en-US" sz="2041" b="true">
                <a:solidFill>
                  <a:srgbClr val="062D25"/>
                </a:solidFill>
                <a:latin typeface="Roboto Bold"/>
                <a:ea typeface="Roboto Bold"/>
                <a:cs typeface="Roboto Bold"/>
                <a:sym typeface="Roboto Bold"/>
              </a:rPr>
              <a:t>Usuario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972230" y="5295494"/>
            <a:ext cx="1039565" cy="21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66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Navegador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289207" y="4894003"/>
            <a:ext cx="1153971" cy="28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1"/>
              </a:lnSpc>
            </a:pPr>
            <a:r>
              <a:rPr lang="en-US" b="true" sz="2041">
                <a:solidFill>
                  <a:srgbClr val="062D25"/>
                </a:solidFill>
                <a:latin typeface="Roboto Bold"/>
                <a:ea typeface="Roboto Bold"/>
                <a:cs typeface="Roboto Bold"/>
                <a:sym typeface="Roboto Bold"/>
              </a:rPr>
              <a:t>REST API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224081" y="5334745"/>
            <a:ext cx="1284224" cy="21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66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HTTP / JSON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627194" y="5295494"/>
            <a:ext cx="823800" cy="21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66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514639" y="4894003"/>
            <a:ext cx="1447747" cy="28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1"/>
              </a:lnSpc>
            </a:pPr>
            <a:r>
              <a:rPr lang="en-US" sz="2041" b="true">
                <a:solidFill>
                  <a:srgbClr val="062D25"/>
                </a:solidFill>
                <a:latin typeface="Roboto Bold"/>
                <a:ea typeface="Roboto Bold"/>
                <a:cs typeface="Roboto Bold"/>
                <a:sym typeface="Roboto Bold"/>
              </a:rPr>
              <a:t>PostgreSQL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671044" y="5295494"/>
            <a:ext cx="1134937" cy="21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66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Datos OMM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002644" y="6434571"/>
            <a:ext cx="2208012" cy="23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8"/>
              </a:lnSpc>
            </a:pPr>
            <a:r>
              <a:rPr lang="en-US" sz="1778" b="true">
                <a:solidFill>
                  <a:srgbClr val="062D25"/>
                </a:solidFill>
                <a:latin typeface="Roboto Bold"/>
                <a:ea typeface="Roboto Bold"/>
                <a:cs typeface="Roboto Bold"/>
                <a:sym typeface="Roboto Bold"/>
              </a:rPr>
              <a:t>Migración / respaldo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000078" y="6807607"/>
            <a:ext cx="2464627" cy="566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4"/>
              </a:lnSpc>
            </a:pPr>
            <a:r>
              <a:rPr lang="en-US" sz="140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XLSX - DOCX - PDF</a:t>
            </a:r>
          </a:p>
          <a:p>
            <a:pPr algn="l">
              <a:lnSpc>
                <a:spcPts val="1544"/>
              </a:lnSpc>
            </a:pPr>
            <a:r>
              <a:rPr lang="en-US" sz="140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Apache POI para importación inicial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069161" y="2836534"/>
            <a:ext cx="4787675" cy="23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8"/>
              </a:lnSpc>
            </a:pPr>
            <a:r>
              <a:rPr lang="en-US" sz="1778" b="true">
                <a:solidFill>
                  <a:srgbClr val="062D25"/>
                </a:solidFill>
                <a:latin typeface="Roboto Bold"/>
                <a:ea typeface="Roboto Bold"/>
                <a:cs typeface="Roboto Bold"/>
                <a:sym typeface="Roboto Bold"/>
              </a:rPr>
              <a:t>Spring Security · autenticación · autorización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327429" y="4894003"/>
            <a:ext cx="1423331" cy="28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1"/>
              </a:lnSpc>
            </a:pPr>
            <a:r>
              <a:rPr lang="en-US" sz="2041" b="true">
                <a:solidFill>
                  <a:srgbClr val="062D25"/>
                </a:solidFill>
                <a:latin typeface="Roboto Bold"/>
                <a:ea typeface="Roboto Bold"/>
                <a:cs typeface="Roboto Bold"/>
                <a:sym typeface="Roboto Bold"/>
              </a:rPr>
              <a:t>Spring Boot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970005" y="4854751"/>
            <a:ext cx="1324224" cy="28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1"/>
              </a:lnSpc>
            </a:pPr>
            <a:r>
              <a:rPr lang="en-US" sz="2041" b="true">
                <a:solidFill>
                  <a:srgbClr val="062D25"/>
                </a:solidFill>
                <a:latin typeface="Roboto Bold"/>
                <a:ea typeface="Roboto Bold"/>
                <a:cs typeface="Roboto Bold"/>
                <a:sym typeface="Roboto Bold"/>
              </a:rPr>
              <a:t>Angular 22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776106" y="6434040"/>
            <a:ext cx="1674470" cy="159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"/>
              </a:lnSpc>
            </a:pPr>
            <a:r>
              <a:rPr lang="en-US" sz="1297" b="true">
                <a:solidFill>
                  <a:srgbClr val="062D25"/>
                </a:solidFill>
                <a:latin typeface="Roboto Bold"/>
                <a:ea typeface="Roboto Bold"/>
                <a:cs typeface="Roboto Bold"/>
                <a:sym typeface="Roboto Bold"/>
              </a:rPr>
              <a:t>Flyway - versiones BD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204880" y="5256243"/>
            <a:ext cx="854474" cy="21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66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2131762" y="7744150"/>
            <a:ext cx="4365463" cy="1203740"/>
          </a:xfrm>
          <a:custGeom>
            <a:avLst/>
            <a:gdLst/>
            <a:ahLst/>
            <a:cxnLst/>
            <a:rect r="r" b="b" t="t" l="l"/>
            <a:pathLst>
              <a:path h="1203740" w="4365463">
                <a:moveTo>
                  <a:pt x="0" y="0"/>
                </a:moveTo>
                <a:lnTo>
                  <a:pt x="4365463" y="0"/>
                </a:lnTo>
                <a:lnTo>
                  <a:pt x="4365463" y="1203740"/>
                </a:lnTo>
                <a:lnTo>
                  <a:pt x="0" y="120374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2628606" y="7894805"/>
            <a:ext cx="876140" cy="860903"/>
          </a:xfrm>
          <a:custGeom>
            <a:avLst/>
            <a:gdLst/>
            <a:ahLst/>
            <a:cxnLst/>
            <a:rect r="r" b="b" t="t" l="l"/>
            <a:pathLst>
              <a:path h="860903" w="876140">
                <a:moveTo>
                  <a:pt x="0" y="0"/>
                </a:moveTo>
                <a:lnTo>
                  <a:pt x="876140" y="0"/>
                </a:lnTo>
                <a:lnTo>
                  <a:pt x="876140" y="860903"/>
                </a:lnTo>
                <a:lnTo>
                  <a:pt x="0" y="860903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2998620" y="8190463"/>
            <a:ext cx="175538" cy="31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231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0">
            <a:off x="3497128" y="8062414"/>
            <a:ext cx="182847" cy="518065"/>
          </a:xfrm>
          <a:custGeom>
            <a:avLst/>
            <a:gdLst/>
            <a:ahLst/>
            <a:cxnLst/>
            <a:rect r="r" b="b" t="t" l="l"/>
            <a:pathLst>
              <a:path h="518065" w="182847">
                <a:moveTo>
                  <a:pt x="0" y="0"/>
                </a:moveTo>
                <a:lnTo>
                  <a:pt x="182846" y="0"/>
                </a:lnTo>
                <a:lnTo>
                  <a:pt x="182846" y="518066"/>
                </a:lnTo>
                <a:lnTo>
                  <a:pt x="0" y="518066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3730897" y="8105914"/>
            <a:ext cx="834863" cy="24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sz="1880" b="true">
                <a:solidFill>
                  <a:srgbClr val="062D25"/>
                </a:solidFill>
                <a:latin typeface="Roboto Bold"/>
                <a:ea typeface="Roboto Bold"/>
                <a:cs typeface="Roboto Bold"/>
                <a:sym typeface="Roboto Bold"/>
              </a:rPr>
              <a:t>Solicita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776442" y="8397207"/>
            <a:ext cx="2304932" cy="20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53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Angularul envía la petición</a:t>
            </a:r>
          </a:p>
        </p:txBody>
      </p:sp>
      <p:sp>
        <p:nvSpPr>
          <p:cNvPr name="Freeform 69" id="69"/>
          <p:cNvSpPr/>
          <p:nvPr/>
        </p:nvSpPr>
        <p:spPr>
          <a:xfrm flipH="false" flipV="false" rot="0">
            <a:off x="657225" y="642396"/>
            <a:ext cx="4096512" cy="429709"/>
          </a:xfrm>
          <a:custGeom>
            <a:avLst/>
            <a:gdLst/>
            <a:ahLst/>
            <a:cxnLst/>
            <a:rect r="r" b="b" t="t" l="l"/>
            <a:pathLst>
              <a:path h="429709" w="4096512">
                <a:moveTo>
                  <a:pt x="0" y="0"/>
                </a:moveTo>
                <a:lnTo>
                  <a:pt x="4096512" y="0"/>
                </a:lnTo>
                <a:lnTo>
                  <a:pt x="4096512" y="429708"/>
                </a:lnTo>
                <a:lnTo>
                  <a:pt x="0" y="429708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-181600" r="0" b="-195061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4801850" y="0"/>
            <a:ext cx="3486150" cy="2143125"/>
          </a:xfrm>
          <a:custGeom>
            <a:avLst/>
            <a:gdLst/>
            <a:ahLst/>
            <a:cxnLst/>
            <a:rect r="r" b="b" t="t" l="l"/>
            <a:pathLst>
              <a:path h="2143125" w="3486150">
                <a:moveTo>
                  <a:pt x="0" y="0"/>
                </a:moveTo>
                <a:lnTo>
                  <a:pt x="3486150" y="0"/>
                </a:lnTo>
                <a:lnTo>
                  <a:pt x="3486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8625" y="209550"/>
            <a:ext cx="15906750" cy="219075"/>
          </a:xfrm>
          <a:custGeom>
            <a:avLst/>
            <a:gdLst/>
            <a:ahLst/>
            <a:cxnLst/>
            <a:rect r="r" b="b" t="t" l="l"/>
            <a:pathLst>
              <a:path h="219075" w="15906750">
                <a:moveTo>
                  <a:pt x="0" y="0"/>
                </a:moveTo>
                <a:lnTo>
                  <a:pt x="15906750" y="0"/>
                </a:lnTo>
                <a:lnTo>
                  <a:pt x="1590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66470" y="1092139"/>
            <a:ext cx="12012236" cy="94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1"/>
              </a:lnSpc>
            </a:pPr>
            <a:r>
              <a:rPr lang="en-US" sz="5900" b="true">
                <a:solidFill>
                  <a:srgbClr val="0B3F31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Nivel de madurez tecnológica (TRL)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02567" y="1924050"/>
            <a:ext cx="4362450" cy="3219450"/>
          </a:xfrm>
          <a:custGeom>
            <a:avLst/>
            <a:gdLst/>
            <a:ahLst/>
            <a:cxnLst/>
            <a:rect r="r" b="b" t="t" l="l"/>
            <a:pathLst>
              <a:path h="3219450" w="4362450">
                <a:moveTo>
                  <a:pt x="0" y="0"/>
                </a:moveTo>
                <a:lnTo>
                  <a:pt x="4362450" y="0"/>
                </a:lnTo>
                <a:lnTo>
                  <a:pt x="43624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93642" y="2990850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36717" y="1924050"/>
            <a:ext cx="4581525" cy="3219450"/>
          </a:xfrm>
          <a:custGeom>
            <a:avLst/>
            <a:gdLst/>
            <a:ahLst/>
            <a:cxnLst/>
            <a:rect r="r" b="b" t="t" l="l"/>
            <a:pathLst>
              <a:path h="3219450" w="4581525">
                <a:moveTo>
                  <a:pt x="0" y="0"/>
                </a:moveTo>
                <a:lnTo>
                  <a:pt x="4581525" y="0"/>
                </a:lnTo>
                <a:lnTo>
                  <a:pt x="45815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37342" y="1924050"/>
            <a:ext cx="4581525" cy="3219450"/>
          </a:xfrm>
          <a:custGeom>
            <a:avLst/>
            <a:gdLst/>
            <a:ahLst/>
            <a:cxnLst/>
            <a:rect r="r" b="b" t="t" l="l"/>
            <a:pathLst>
              <a:path h="3219450" w="4581525">
                <a:moveTo>
                  <a:pt x="0" y="0"/>
                </a:moveTo>
                <a:lnTo>
                  <a:pt x="4581525" y="0"/>
                </a:lnTo>
                <a:lnTo>
                  <a:pt x="45815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75492" y="3169413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2567" y="5991225"/>
            <a:ext cx="3924300" cy="1724025"/>
          </a:xfrm>
          <a:custGeom>
            <a:avLst/>
            <a:gdLst/>
            <a:ahLst/>
            <a:cxnLst/>
            <a:rect r="r" b="b" t="t" l="l"/>
            <a:pathLst>
              <a:path h="1724025" w="3924300">
                <a:moveTo>
                  <a:pt x="0" y="0"/>
                </a:moveTo>
                <a:lnTo>
                  <a:pt x="3924300" y="0"/>
                </a:lnTo>
                <a:lnTo>
                  <a:pt x="39243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1642" y="62103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36417" y="5991225"/>
            <a:ext cx="3933825" cy="1724025"/>
          </a:xfrm>
          <a:custGeom>
            <a:avLst/>
            <a:gdLst/>
            <a:ahLst/>
            <a:cxnLst/>
            <a:rect r="r" b="b" t="t" l="l"/>
            <a:pathLst>
              <a:path h="1724025" w="3933825">
                <a:moveTo>
                  <a:pt x="0" y="0"/>
                </a:moveTo>
                <a:lnTo>
                  <a:pt x="3933825" y="0"/>
                </a:lnTo>
                <a:lnTo>
                  <a:pt x="39338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55492" y="62103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74567" y="641985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79792" y="5991225"/>
            <a:ext cx="4143375" cy="1724025"/>
          </a:xfrm>
          <a:custGeom>
            <a:avLst/>
            <a:gdLst/>
            <a:ahLst/>
            <a:cxnLst/>
            <a:rect r="r" b="b" t="t" l="l"/>
            <a:pathLst>
              <a:path h="1724025" w="4143375">
                <a:moveTo>
                  <a:pt x="0" y="0"/>
                </a:moveTo>
                <a:lnTo>
                  <a:pt x="4143375" y="0"/>
                </a:lnTo>
                <a:lnTo>
                  <a:pt x="41433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89342" y="6210300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113642" y="5991225"/>
            <a:ext cx="4143375" cy="1724025"/>
          </a:xfrm>
          <a:custGeom>
            <a:avLst/>
            <a:gdLst/>
            <a:ahLst/>
            <a:cxnLst/>
            <a:rect r="r" b="b" t="t" l="l"/>
            <a:pathLst>
              <a:path h="1724025" w="4143375">
                <a:moveTo>
                  <a:pt x="0" y="0"/>
                </a:moveTo>
                <a:lnTo>
                  <a:pt x="4143375" y="0"/>
                </a:lnTo>
                <a:lnTo>
                  <a:pt x="41433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332717" y="62103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617342" y="641985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760717" y="641985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894567" y="641985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67496" y="8122300"/>
            <a:ext cx="13077825" cy="219075"/>
          </a:xfrm>
          <a:custGeom>
            <a:avLst/>
            <a:gdLst/>
            <a:ahLst/>
            <a:cxnLst/>
            <a:rect r="r" b="b" t="t" l="l"/>
            <a:pathLst>
              <a:path h="219075" w="13077825">
                <a:moveTo>
                  <a:pt x="0" y="0"/>
                </a:moveTo>
                <a:lnTo>
                  <a:pt x="13077825" y="0"/>
                </a:lnTo>
                <a:lnTo>
                  <a:pt x="13077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74229" y="7899781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320468" y="7920038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806618" y="7907987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175970" y="7851013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192881" y="7920038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0" y="8782050"/>
            <a:ext cx="18288000" cy="1504950"/>
            <a:chOff x="0" y="0"/>
            <a:chExt cx="24384000" cy="2006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06600"/>
                  </a:lnTo>
                  <a:lnTo>
                    <a:pt x="0" y="200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571500" y="571500"/>
              <a:ext cx="596900" cy="863600"/>
            </a:xfrm>
            <a:custGeom>
              <a:avLst/>
              <a:gdLst/>
              <a:ahLst/>
              <a:cxnLst/>
              <a:rect r="r" b="b" t="t" l="l"/>
              <a:pathLst>
                <a:path h="8636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4343400" y="571500"/>
              <a:ext cx="304800" cy="863600"/>
            </a:xfrm>
            <a:custGeom>
              <a:avLst/>
              <a:gdLst/>
              <a:ahLst/>
              <a:cxnLst/>
              <a:rect r="r" b="b" t="t" l="l"/>
              <a:pathLst>
                <a:path h="8636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1389888" y="819404"/>
              <a:ext cx="2953512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6"/>
                </a:lnSpc>
              </a:pPr>
              <a:r>
                <a:rPr lang="en-US" sz="2489" b="true">
                  <a:solidFill>
                    <a:srgbClr val="5D62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MM Solutions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5096256" y="832104"/>
              <a:ext cx="329184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4"/>
                </a:lnSpc>
              </a:pPr>
              <a:r>
                <a:rPr lang="en-US" sz="2336">
                  <a:solidFill>
                    <a:srgbClr val="A6A6A6"/>
                  </a:solidFill>
                  <a:latin typeface="DM Sans"/>
                  <a:ea typeface="DM Sans"/>
                  <a:cs typeface="DM Sans"/>
                  <a:sym typeface="DM Sans"/>
                </a:rPr>
                <a:t>Hotel El Almendro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657225" y="642396"/>
            <a:ext cx="4096512" cy="429709"/>
          </a:xfrm>
          <a:custGeom>
            <a:avLst/>
            <a:gdLst/>
            <a:ahLst/>
            <a:cxnLst/>
            <a:rect r="r" b="b" t="t" l="l"/>
            <a:pathLst>
              <a:path h="429709" w="4096512">
                <a:moveTo>
                  <a:pt x="0" y="0"/>
                </a:moveTo>
                <a:lnTo>
                  <a:pt x="4096512" y="0"/>
                </a:lnTo>
                <a:lnTo>
                  <a:pt x="4096512" y="429708"/>
                </a:lnTo>
                <a:lnTo>
                  <a:pt x="0" y="42970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-181600" r="0" b="-195061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97915" y="6576960"/>
            <a:ext cx="336849" cy="333480"/>
          </a:xfrm>
          <a:custGeom>
            <a:avLst/>
            <a:gdLst/>
            <a:ahLst/>
            <a:cxnLst/>
            <a:rect r="r" b="b" t="t" l="l"/>
            <a:pathLst>
              <a:path h="333480" w="336849">
                <a:moveTo>
                  <a:pt x="0" y="0"/>
                </a:moveTo>
                <a:lnTo>
                  <a:pt x="336848" y="0"/>
                </a:lnTo>
                <a:lnTo>
                  <a:pt x="336848" y="333480"/>
                </a:lnTo>
                <a:lnTo>
                  <a:pt x="0" y="33348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489805" y="6522860"/>
            <a:ext cx="348938" cy="412944"/>
          </a:xfrm>
          <a:custGeom>
            <a:avLst/>
            <a:gdLst/>
            <a:ahLst/>
            <a:cxnLst/>
            <a:rect r="r" b="b" t="t" l="l"/>
            <a:pathLst>
              <a:path h="412944" w="348938">
                <a:moveTo>
                  <a:pt x="0" y="0"/>
                </a:moveTo>
                <a:lnTo>
                  <a:pt x="348938" y="0"/>
                </a:lnTo>
                <a:lnTo>
                  <a:pt x="348938" y="412944"/>
                </a:lnTo>
                <a:lnTo>
                  <a:pt x="0" y="41294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637517" y="6522860"/>
            <a:ext cx="446673" cy="458126"/>
          </a:xfrm>
          <a:custGeom>
            <a:avLst/>
            <a:gdLst/>
            <a:ahLst/>
            <a:cxnLst/>
            <a:rect r="r" b="b" t="t" l="l"/>
            <a:pathLst>
              <a:path h="458126" w="446673">
                <a:moveTo>
                  <a:pt x="0" y="0"/>
                </a:moveTo>
                <a:lnTo>
                  <a:pt x="446673" y="0"/>
                </a:lnTo>
                <a:lnTo>
                  <a:pt x="446673" y="458126"/>
                </a:lnTo>
                <a:lnTo>
                  <a:pt x="0" y="458126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188830" y="2923617"/>
            <a:ext cx="1320438" cy="57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84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TRL 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752150" y="2923617"/>
            <a:ext cx="1320438" cy="57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849" b="true">
                <a:solidFill>
                  <a:srgbClr val="0B3F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TRL 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745013" y="4159261"/>
            <a:ext cx="2034150" cy="357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4"/>
              </a:lnSpc>
            </a:pPr>
            <a:r>
              <a:rPr lang="en-US" b="true" sz="1195" spc="-3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funcional validado en entorno controlado.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417244" y="3259962"/>
            <a:ext cx="2346626" cy="34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true">
                <a:solidFill>
                  <a:srgbClr val="0B3F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TRL superiores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39289" y="5479777"/>
            <a:ext cx="3412016" cy="24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0B3F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falta para llegar a TRL 5?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70547" y="8158051"/>
            <a:ext cx="286251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8D8D8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489737" y="3910045"/>
            <a:ext cx="2111169" cy="3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Solo si la empresa continúa:</a:t>
            </a:r>
          </a:p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validación operacional real.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82706" y="4149737"/>
            <a:ext cx="1932845" cy="3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spc="-3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Concepto y componentes validados inicialmente.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390163" y="4379751"/>
            <a:ext cx="1656781" cy="31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desarrollo - integración pruebas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745590" y="3752403"/>
            <a:ext cx="1976483" cy="23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48" b="true">
                <a:solidFill>
                  <a:srgbClr val="0B3F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Prototipo integrado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2155" y="3752403"/>
            <a:ext cx="1987898" cy="23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48" b="true">
                <a:solidFill>
                  <a:srgbClr val="F0D9B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 de concepto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418567" y="6801854"/>
            <a:ext cx="1997635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 datos representativos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129680" y="6801854"/>
            <a:ext cx="1990054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Funcionalidad + seguridad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703214" y="2492164"/>
            <a:ext cx="1811729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D6900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DESPUÉS DE CAPSTONE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91938" y="6801854"/>
            <a:ext cx="1908796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+ backend + BD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980902" y="6801854"/>
            <a:ext cx="1637457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Funciones principales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986671" y="6374383"/>
            <a:ext cx="1060560" cy="23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48" b="true">
                <a:solidFill>
                  <a:srgbClr val="0B3F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Completar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750779" y="2492164"/>
            <a:ext cx="1457502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0B3F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META DE ENTREGA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702841" y="6374383"/>
            <a:ext cx="818502" cy="23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48" b="true">
                <a:solidFill>
                  <a:srgbClr val="0B3F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494767" y="6406794"/>
            <a:ext cx="711118" cy="23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48" b="true">
                <a:solidFill>
                  <a:srgbClr val="0B3F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142753" y="6374383"/>
            <a:ext cx="682796" cy="23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48" b="true">
                <a:solidFill>
                  <a:srgbClr val="0B3F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Probar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95794" y="2492164"/>
            <a:ext cx="624016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F0D9B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ACTUAL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571381" y="8153288"/>
            <a:ext cx="90472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464109" y="8112775"/>
            <a:ext cx="90472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171122" y="8145082"/>
            <a:ext cx="90472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57605" y="8133031"/>
            <a:ext cx="90472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590557" y="8165338"/>
            <a:ext cx="90472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b="true" sz="1265" spc="-3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14801850" y="0"/>
            <a:ext cx="3486150" cy="2143125"/>
          </a:xfrm>
          <a:custGeom>
            <a:avLst/>
            <a:gdLst/>
            <a:ahLst/>
            <a:cxnLst/>
            <a:rect r="r" b="b" t="t" l="l"/>
            <a:pathLst>
              <a:path h="2143125" w="3486150">
                <a:moveTo>
                  <a:pt x="0" y="0"/>
                </a:moveTo>
                <a:lnTo>
                  <a:pt x="3486150" y="0"/>
                </a:lnTo>
                <a:lnTo>
                  <a:pt x="3486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81550" y="2781300"/>
            <a:ext cx="2409825" cy="1933575"/>
          </a:xfrm>
          <a:custGeom>
            <a:avLst/>
            <a:gdLst/>
            <a:ahLst/>
            <a:cxnLst/>
            <a:rect r="r" b="b" t="t" l="l"/>
            <a:pathLst>
              <a:path h="1933575" w="2409825">
                <a:moveTo>
                  <a:pt x="0" y="0"/>
                </a:moveTo>
                <a:lnTo>
                  <a:pt x="2409825" y="0"/>
                </a:lnTo>
                <a:lnTo>
                  <a:pt x="24098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00625" y="3209925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81850" y="34290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00925" y="2781300"/>
            <a:ext cx="2619375" cy="1933575"/>
          </a:xfrm>
          <a:custGeom>
            <a:avLst/>
            <a:gdLst/>
            <a:ahLst/>
            <a:cxnLst/>
            <a:rect r="r" b="b" t="t" l="l"/>
            <a:pathLst>
              <a:path h="1933575" w="2619375">
                <a:moveTo>
                  <a:pt x="0" y="0"/>
                </a:moveTo>
                <a:lnTo>
                  <a:pt x="2619375" y="0"/>
                </a:lnTo>
                <a:lnTo>
                  <a:pt x="26193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20000" y="320992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91700" y="342900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10775" y="2781300"/>
            <a:ext cx="2619375" cy="1933575"/>
          </a:xfrm>
          <a:custGeom>
            <a:avLst/>
            <a:gdLst/>
            <a:ahLst/>
            <a:cxnLst/>
            <a:rect r="r" b="b" t="t" l="l"/>
            <a:pathLst>
              <a:path h="1933575" w="2619375">
                <a:moveTo>
                  <a:pt x="0" y="0"/>
                </a:moveTo>
                <a:lnTo>
                  <a:pt x="2619375" y="0"/>
                </a:lnTo>
                <a:lnTo>
                  <a:pt x="26193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29850" y="3209925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401550" y="342900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39700" y="2781300"/>
            <a:ext cx="2400300" cy="1933575"/>
          </a:xfrm>
          <a:custGeom>
            <a:avLst/>
            <a:gdLst/>
            <a:ahLst/>
            <a:cxnLst/>
            <a:rect r="r" b="b" t="t" l="l"/>
            <a:pathLst>
              <a:path h="1933575" w="2400300">
                <a:moveTo>
                  <a:pt x="0" y="0"/>
                </a:moveTo>
                <a:lnTo>
                  <a:pt x="2400300" y="0"/>
                </a:lnTo>
                <a:lnTo>
                  <a:pt x="24003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839700" y="3209925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020925" y="34290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449550" y="2781300"/>
            <a:ext cx="2409825" cy="1933575"/>
          </a:xfrm>
          <a:custGeom>
            <a:avLst/>
            <a:gdLst/>
            <a:ahLst/>
            <a:cxnLst/>
            <a:rect r="r" b="b" t="t" l="l"/>
            <a:pathLst>
              <a:path h="1933575" w="2409825">
                <a:moveTo>
                  <a:pt x="0" y="0"/>
                </a:moveTo>
                <a:lnTo>
                  <a:pt x="2409825" y="0"/>
                </a:lnTo>
                <a:lnTo>
                  <a:pt x="24098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68625" y="3209925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876925" y="4714875"/>
            <a:ext cx="10887075" cy="428625"/>
          </a:xfrm>
          <a:custGeom>
            <a:avLst/>
            <a:gdLst/>
            <a:ahLst/>
            <a:cxnLst/>
            <a:rect r="r" b="b" t="t" l="l"/>
            <a:pathLst>
              <a:path h="428625" w="10887075">
                <a:moveTo>
                  <a:pt x="0" y="0"/>
                </a:moveTo>
                <a:lnTo>
                  <a:pt x="10887075" y="0"/>
                </a:lnTo>
                <a:lnTo>
                  <a:pt x="108870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867275" y="5847904"/>
            <a:ext cx="6324600" cy="2152650"/>
          </a:xfrm>
          <a:custGeom>
            <a:avLst/>
            <a:gdLst/>
            <a:ahLst/>
            <a:cxnLst/>
            <a:rect r="r" b="b" t="t" l="l"/>
            <a:pathLst>
              <a:path h="2152650" w="6324600">
                <a:moveTo>
                  <a:pt x="0" y="0"/>
                </a:moveTo>
                <a:lnTo>
                  <a:pt x="6324600" y="0"/>
                </a:lnTo>
                <a:lnTo>
                  <a:pt x="63246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305425" y="6276529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82350" y="5847904"/>
            <a:ext cx="6762750" cy="2152650"/>
          </a:xfrm>
          <a:custGeom>
            <a:avLst/>
            <a:gdLst/>
            <a:ahLst/>
            <a:cxnLst/>
            <a:rect r="r" b="b" t="t" l="l"/>
            <a:pathLst>
              <a:path h="2152650" w="6762750">
                <a:moveTo>
                  <a:pt x="0" y="0"/>
                </a:moveTo>
                <a:lnTo>
                  <a:pt x="6762750" y="0"/>
                </a:lnTo>
                <a:lnTo>
                  <a:pt x="67627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839575" y="6276529"/>
            <a:ext cx="1095375" cy="1295400"/>
          </a:xfrm>
          <a:custGeom>
            <a:avLst/>
            <a:gdLst/>
            <a:ahLst/>
            <a:cxnLst/>
            <a:rect r="r" b="b" t="t" l="l"/>
            <a:pathLst>
              <a:path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32824" y="8057704"/>
            <a:ext cx="18270753" cy="2229296"/>
            <a:chOff x="0" y="0"/>
            <a:chExt cx="4812050" cy="587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12050" cy="587140"/>
            </a:xfrm>
            <a:custGeom>
              <a:avLst/>
              <a:gdLst/>
              <a:ahLst/>
              <a:cxnLst/>
              <a:rect r="r" b="b" t="t" l="l"/>
              <a:pathLst>
                <a:path h="587140" w="4812050">
                  <a:moveTo>
                    <a:pt x="0" y="0"/>
                  </a:moveTo>
                  <a:lnTo>
                    <a:pt x="4812050" y="0"/>
                  </a:lnTo>
                  <a:lnTo>
                    <a:pt x="4812050" y="587140"/>
                  </a:lnTo>
                  <a:lnTo>
                    <a:pt x="0" y="587140"/>
                  </a:lnTo>
                  <a:close/>
                </a:path>
              </a:pathLst>
            </a:custGeom>
            <a:solidFill>
              <a:srgbClr val="F5F2E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812050" cy="58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000625" y="9210675"/>
            <a:ext cx="12639675" cy="219075"/>
          </a:xfrm>
          <a:custGeom>
            <a:avLst/>
            <a:gdLst/>
            <a:ahLst/>
            <a:cxnLst/>
            <a:rect r="r" b="b" t="t" l="l"/>
            <a:pathLst>
              <a:path h="219075" w="12639675">
                <a:moveTo>
                  <a:pt x="0" y="0"/>
                </a:moveTo>
                <a:lnTo>
                  <a:pt x="12639675" y="0"/>
                </a:lnTo>
                <a:lnTo>
                  <a:pt x="12639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09575" y="1967360"/>
            <a:ext cx="4029075" cy="5732730"/>
            <a:chOff x="0" y="0"/>
            <a:chExt cx="1061156" cy="15098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1156" cy="1509855"/>
            </a:xfrm>
            <a:custGeom>
              <a:avLst/>
              <a:gdLst/>
              <a:ahLst/>
              <a:cxnLst/>
              <a:rect r="r" b="b" t="t" l="l"/>
              <a:pathLst>
                <a:path h="1509855" w="1061156">
                  <a:moveTo>
                    <a:pt x="46116" y="0"/>
                  </a:moveTo>
                  <a:lnTo>
                    <a:pt x="1015039" y="0"/>
                  </a:lnTo>
                  <a:cubicBezTo>
                    <a:pt x="1027270" y="0"/>
                    <a:pt x="1039000" y="4859"/>
                    <a:pt x="1047648" y="13507"/>
                  </a:cubicBezTo>
                  <a:cubicBezTo>
                    <a:pt x="1056297" y="22156"/>
                    <a:pt x="1061156" y="33886"/>
                    <a:pt x="1061156" y="46116"/>
                  </a:cubicBezTo>
                  <a:lnTo>
                    <a:pt x="1061156" y="1463739"/>
                  </a:lnTo>
                  <a:cubicBezTo>
                    <a:pt x="1061156" y="1475969"/>
                    <a:pt x="1056297" y="1487699"/>
                    <a:pt x="1047648" y="1496348"/>
                  </a:cubicBezTo>
                  <a:cubicBezTo>
                    <a:pt x="1039000" y="1504996"/>
                    <a:pt x="1027270" y="1509855"/>
                    <a:pt x="1015039" y="1509855"/>
                  </a:cubicBezTo>
                  <a:lnTo>
                    <a:pt x="46116" y="1509855"/>
                  </a:lnTo>
                  <a:cubicBezTo>
                    <a:pt x="33886" y="1509855"/>
                    <a:pt x="22156" y="1504996"/>
                    <a:pt x="13507" y="1496348"/>
                  </a:cubicBezTo>
                  <a:cubicBezTo>
                    <a:pt x="4859" y="1487699"/>
                    <a:pt x="0" y="1475969"/>
                    <a:pt x="0" y="1463739"/>
                  </a:cubicBezTo>
                  <a:lnTo>
                    <a:pt x="0" y="46116"/>
                  </a:lnTo>
                  <a:cubicBezTo>
                    <a:pt x="0" y="33886"/>
                    <a:pt x="4859" y="22156"/>
                    <a:pt x="13507" y="13507"/>
                  </a:cubicBezTo>
                  <a:cubicBezTo>
                    <a:pt x="22156" y="4859"/>
                    <a:pt x="33886" y="0"/>
                    <a:pt x="46116" y="0"/>
                  </a:cubicBezTo>
                  <a:close/>
                </a:path>
              </a:pathLst>
            </a:custGeom>
            <a:solidFill>
              <a:srgbClr val="1D4B3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061156" cy="1509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752045" y="3638852"/>
            <a:ext cx="626290" cy="680750"/>
          </a:xfrm>
          <a:custGeom>
            <a:avLst/>
            <a:gdLst/>
            <a:ahLst/>
            <a:cxnLst/>
            <a:rect r="r" b="b" t="t" l="l"/>
            <a:pathLst>
              <a:path h="680750" w="626290">
                <a:moveTo>
                  <a:pt x="0" y="0"/>
                </a:moveTo>
                <a:lnTo>
                  <a:pt x="626290" y="0"/>
                </a:lnTo>
                <a:lnTo>
                  <a:pt x="626290" y="680750"/>
                </a:lnTo>
                <a:lnTo>
                  <a:pt x="0" y="68075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84190" y="4773183"/>
            <a:ext cx="794156" cy="651208"/>
          </a:xfrm>
          <a:custGeom>
            <a:avLst/>
            <a:gdLst/>
            <a:ahLst/>
            <a:cxnLst/>
            <a:rect r="r" b="b" t="t" l="l"/>
            <a:pathLst>
              <a:path h="651208" w="794156">
                <a:moveTo>
                  <a:pt x="0" y="0"/>
                </a:moveTo>
                <a:lnTo>
                  <a:pt x="794156" y="0"/>
                </a:lnTo>
                <a:lnTo>
                  <a:pt x="794156" y="651207"/>
                </a:lnTo>
                <a:lnTo>
                  <a:pt x="0" y="65120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58817" y="6000471"/>
            <a:ext cx="644903" cy="638454"/>
          </a:xfrm>
          <a:custGeom>
            <a:avLst/>
            <a:gdLst/>
            <a:ahLst/>
            <a:cxnLst/>
            <a:rect r="r" b="b" t="t" l="l"/>
            <a:pathLst>
              <a:path h="638454" w="644903">
                <a:moveTo>
                  <a:pt x="0" y="0"/>
                </a:moveTo>
                <a:lnTo>
                  <a:pt x="644902" y="0"/>
                </a:lnTo>
                <a:lnTo>
                  <a:pt x="644902" y="638454"/>
                </a:lnTo>
                <a:lnTo>
                  <a:pt x="0" y="638454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5576" y="8782050"/>
            <a:ext cx="18288000" cy="1504950"/>
            <a:chOff x="0" y="0"/>
            <a:chExt cx="24384000" cy="2006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384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06600"/>
                  </a:lnTo>
                  <a:lnTo>
                    <a:pt x="0" y="200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571500" y="571500"/>
              <a:ext cx="596900" cy="863600"/>
            </a:xfrm>
            <a:custGeom>
              <a:avLst/>
              <a:gdLst/>
              <a:ahLst/>
              <a:cxnLst/>
              <a:rect r="r" b="b" t="t" l="l"/>
              <a:pathLst>
                <a:path h="8636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4343400" y="571500"/>
              <a:ext cx="304800" cy="863600"/>
            </a:xfrm>
            <a:custGeom>
              <a:avLst/>
              <a:gdLst/>
              <a:ahLst/>
              <a:cxnLst/>
              <a:rect r="r" b="b" t="t" l="l"/>
              <a:pathLst>
                <a:path h="8636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1389888" y="819404"/>
              <a:ext cx="2953512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6"/>
                </a:lnSpc>
              </a:pPr>
              <a:r>
                <a:rPr lang="en-US" sz="2489" b="true">
                  <a:solidFill>
                    <a:srgbClr val="5D62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MM Solutions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5096256" y="832104"/>
              <a:ext cx="329184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4"/>
                </a:lnSpc>
              </a:pPr>
              <a:r>
                <a:rPr lang="en-US" sz="2336">
                  <a:solidFill>
                    <a:srgbClr val="A6A6A6"/>
                  </a:solidFill>
                  <a:latin typeface="DM Sans"/>
                  <a:ea typeface="DM Sans"/>
                  <a:cs typeface="DM Sans"/>
                  <a:sym typeface="DM Sans"/>
                </a:rPr>
                <a:t>Hotel El Almendro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109968" y="914400"/>
            <a:ext cx="881101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true">
                <a:solidFill>
                  <a:srgbClr val="1C4039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Metodología de trabajo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8915" y="2400892"/>
            <a:ext cx="1559877" cy="504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3893" spc="-7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57748" y="3095622"/>
            <a:ext cx="1676575" cy="21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spc="-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Marco principal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818352" y="3886768"/>
            <a:ext cx="1300572" cy="21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spc="-3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Cliente real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840306" y="4853559"/>
            <a:ext cx="1784022" cy="55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spc="-3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Cambios de requerimientos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34855" y="6237508"/>
            <a:ext cx="2329180" cy="21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spc="-3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Entrega incremental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57748" y="6824828"/>
            <a:ext cx="2945829" cy="558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4"/>
              </a:lnSpc>
            </a:pPr>
            <a:r>
              <a:rPr lang="en-US" sz="1617" spc="-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retroalimentación del hotel se incorpora entre ciclos.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948267" y="3389821"/>
            <a:ext cx="883482" cy="208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 b="true">
                <a:solidFill>
                  <a:srgbClr val="1C403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Revisión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36569" y="6610292"/>
            <a:ext cx="2678906" cy="2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spc="-47" b="true">
                <a:solidFill>
                  <a:srgbClr val="1C403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Matías Loyola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07761" y="7123100"/>
            <a:ext cx="2880749" cy="21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784" spc="-3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- BD - integración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346311" y="6640430"/>
            <a:ext cx="2678906" cy="2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spc="-47" b="true">
                <a:solidFill>
                  <a:srgbClr val="1C403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Matías Cisternas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312895" y="7123100"/>
            <a:ext cx="3341595" cy="21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784" spc="-3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- UI - documentación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867275" y="2320598"/>
            <a:ext cx="2678906" cy="2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spc="-47" b="true">
                <a:solidFill>
                  <a:srgbClr val="1C403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Ciclo de trabajo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029727" y="5324475"/>
            <a:ext cx="1197455" cy="35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55" b="true">
                <a:solidFill>
                  <a:srgbClr val="1C403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Equipo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267295" y="3389821"/>
            <a:ext cx="1090030" cy="208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 b="true">
                <a:solidFill>
                  <a:srgbClr val="1C403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811828" y="5107045"/>
            <a:ext cx="1095352" cy="20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546" spc="-30" b="true">
                <a:solidFill>
                  <a:srgbClr val="CD9C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nuevo ciclo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652802" y="3389821"/>
            <a:ext cx="999456" cy="208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 b="true">
                <a:solidFill>
                  <a:srgbClr val="1C403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Feedback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019325" y="3389821"/>
            <a:ext cx="821392" cy="208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 b="true">
                <a:solidFill>
                  <a:srgbClr val="1C403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Backlog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642273" y="3751250"/>
            <a:ext cx="1059450" cy="18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1494" spc="-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Seleccionar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646500" y="3389821"/>
            <a:ext cx="636712" cy="208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32" b="true">
                <a:solidFill>
                  <a:srgbClr val="1C403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269466" y="3751250"/>
            <a:ext cx="872966" cy="18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1494" spc="-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Construir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019616" y="3751250"/>
            <a:ext cx="792286" cy="18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1494" spc="-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Priorizar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656130" y="3751250"/>
            <a:ext cx="666727" cy="18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1494" spc="-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Ajustar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950751" y="3751250"/>
            <a:ext cx="635046" cy="18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1494" spc="-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Probar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657225" y="642396"/>
            <a:ext cx="4096512" cy="429709"/>
          </a:xfrm>
          <a:custGeom>
            <a:avLst/>
            <a:gdLst/>
            <a:ahLst/>
            <a:cxnLst/>
            <a:rect r="r" b="b" t="t" l="l"/>
            <a:pathLst>
              <a:path h="429709" w="4096512">
                <a:moveTo>
                  <a:pt x="0" y="0"/>
                </a:moveTo>
                <a:lnTo>
                  <a:pt x="4096512" y="0"/>
                </a:lnTo>
                <a:lnTo>
                  <a:pt x="4096512" y="429708"/>
                </a:lnTo>
                <a:lnTo>
                  <a:pt x="0" y="429708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-181600" r="0" b="-195061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4801850" y="0"/>
            <a:ext cx="3486150" cy="2143125"/>
          </a:xfrm>
          <a:custGeom>
            <a:avLst/>
            <a:gdLst/>
            <a:ahLst/>
            <a:cxnLst/>
            <a:rect r="r" b="b" t="t" l="l"/>
            <a:pathLst>
              <a:path h="2143125" w="3486150">
                <a:moveTo>
                  <a:pt x="0" y="0"/>
                </a:moveTo>
                <a:lnTo>
                  <a:pt x="3486150" y="0"/>
                </a:lnTo>
                <a:lnTo>
                  <a:pt x="3486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DAHWh86XYTE</dc:identifier>
  <dcterms:modified xsi:type="dcterms:W3CDTF">2011-08-01T06:04:30Z</dcterms:modified>
  <cp:revision>1</cp:revision>
  <dc:title>Fase 2 | Hotel El Almendro</dc:title>
</cp:coreProperties>
</file>